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India dairy market (₹ trillion)</c:v>
                </c:pt>
              </c:strCache>
            </c:strRef>
          </c:tx>
          <c:spPr>
            <a:solidFill>
              <a:srgbClr val="BE0000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11.3</c:v>
                </c:pt>
                <c:pt idx="1">
                  <c:v>41.9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2DF-4CCD-9F4E-BEA1014C0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2560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AMUL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7CA40"/>
                </a:solidFill>
                <a:latin typeface="Aptos"/>
              </a:defRPr>
            </a:pPr>
            <a:r>
              <a:t>THE TASTE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743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Dairy Items</a:t>
            </a:r>
            <a:br/>
            <a:r>
              <a:t>Product Development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Need → Research → Design → Prototype → Test → Refine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Academic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713232"/>
            <a:ext cx="7040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C1F24"/>
                </a:solidFill>
                <a:latin typeface="Aptos Display"/>
              </a:defRPr>
            </a:pPr>
            <a:r>
              <a:t>From everyday dairy to functional nutrition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6949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26972"/>
                </a:solidFill>
                <a:latin typeface="Aptos"/>
              </a:defRPr>
            </a:pPr>
            <a:r>
              <a:t>A product-development proposal built around Amul’s dairy portfolio, India’s evolving dairy market, and a focused concept: a probiotic + high-protein lassi.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2702" y="2743200"/>
            <a:ext cx="921715" cy="416052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94376" y="3063240"/>
            <a:ext cx="658368" cy="4800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600" y="3383280"/>
            <a:ext cx="1645920" cy="2400300"/>
          </a:xfrm>
          <a:prstGeom prst="round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2273" y="4023360"/>
            <a:ext cx="1382572" cy="1280160"/>
          </a:xfrm>
          <a:prstGeom prst="rect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8110" y="4183380"/>
            <a:ext cx="1250899" cy="3520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AMUL PROLIFE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110" y="4535424"/>
            <a:ext cx="1250899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72D60"/>
                </a:solidFill>
                <a:latin typeface="Aptos"/>
              </a:defRPr>
            </a:pPr>
            <a:r>
              <a:t>MANGO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5047488"/>
            <a:ext cx="1152144" cy="2880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626972"/>
                </a:solidFill>
                <a:latin typeface="Aptos"/>
              </a:defRPr>
            </a:pPr>
            <a:r>
              <a:t>200 mL • concept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4324" y="2880360"/>
            <a:ext cx="896112" cy="398221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92340" y="3186684"/>
            <a:ext cx="640080" cy="459485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12280" y="3493008"/>
            <a:ext cx="1600200" cy="2297430"/>
          </a:xfrm>
          <a:prstGeom prst="round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40296" y="4105656"/>
            <a:ext cx="1344168" cy="1225296"/>
          </a:xfrm>
          <a:prstGeom prst="rect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04304" y="4258818"/>
            <a:ext cx="1216152" cy="3369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AMUL PROLIFE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4595774"/>
            <a:ext cx="1216152" cy="4901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72D60"/>
                </a:solidFill>
                <a:latin typeface="Aptos"/>
              </a:defRPr>
            </a:pPr>
            <a:r>
              <a:t>BERRY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2310" y="5085892"/>
            <a:ext cx="1120139" cy="2756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626972"/>
                </a:solidFill>
                <a:latin typeface="Aptos"/>
              </a:defRPr>
            </a:pPr>
            <a:r>
              <a:t>200 mL • concept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0342" y="2743200"/>
            <a:ext cx="921715" cy="416052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72016" y="3063240"/>
            <a:ext cx="658368" cy="4800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78240" y="3383280"/>
            <a:ext cx="1645920" cy="2400300"/>
          </a:xfrm>
          <a:prstGeom prst="round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09913" y="4023360"/>
            <a:ext cx="1382572" cy="1280160"/>
          </a:xfrm>
          <a:prstGeom prst="rect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75750" y="4183380"/>
            <a:ext cx="1250899" cy="3520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AMUL PROLIFE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5750" y="4535424"/>
            <a:ext cx="1250899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72D60"/>
                </a:solidFill>
                <a:latin typeface="Aptos"/>
              </a:defRPr>
            </a:pPr>
            <a:r>
              <a:t>MASALA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5047488"/>
            <a:ext cx="1152144" cy="2880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626972"/>
                </a:solidFill>
                <a:latin typeface="Aptos"/>
              </a:defRPr>
            </a:pPr>
            <a:r>
              <a:t>200 mL •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Product Development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1F24"/>
                </a:solidFill>
                <a:latin typeface="Aptos"/>
              </a:defRPr>
            </a:pPr>
            <a:r>
              <a:t>The project follows a seven-stage innovation 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487168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1" y="213055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350008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Identify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715768"/>
            <a:ext cx="21579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Find a real consumer problem or unmet need.</a:t>
            </a:r>
          </a:p>
        </p:txBody>
      </p:sp>
      <p:sp>
        <p:nvSpPr>
          <p:cNvPr id="11" name="Oval 10"/>
          <p:cNvSpPr/>
          <p:nvPr/>
        </p:nvSpPr>
        <p:spPr>
          <a:xfrm>
            <a:off x="2587752" y="2130552"/>
            <a:ext cx="384048" cy="38404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2148840"/>
            <a:ext cx="384048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965960"/>
            <a:ext cx="2487168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93592" y="213055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2350008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Market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715768"/>
            <a:ext cx="21579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Study market size, trends, customers and competitors.</a:t>
            </a:r>
          </a:p>
        </p:txBody>
      </p:sp>
      <p:sp>
        <p:nvSpPr>
          <p:cNvPr id="17" name="Oval 16"/>
          <p:cNvSpPr/>
          <p:nvPr/>
        </p:nvSpPr>
        <p:spPr>
          <a:xfrm>
            <a:off x="5376672" y="2130552"/>
            <a:ext cx="384048" cy="38404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76672" y="2148840"/>
            <a:ext cx="384048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2487168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82512" y="213055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350008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Product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715768"/>
            <a:ext cx="21579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Define features, formulation, packaging and positioning.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165592" y="2130552"/>
            <a:ext cx="384048" cy="38404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5592" y="2148840"/>
            <a:ext cx="384048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39" y="1965960"/>
            <a:ext cx="2487168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71431" y="213055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71431" y="2350008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1" y="2715768"/>
            <a:ext cx="21579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Build small trial batches / concept samples.</a:t>
            </a:r>
          </a:p>
        </p:txBody>
      </p:sp>
      <p:sp>
        <p:nvSpPr>
          <p:cNvPr id="29" name="Oval 28"/>
          <p:cNvSpPr/>
          <p:nvPr/>
        </p:nvSpPr>
        <p:spPr>
          <a:xfrm>
            <a:off x="10954511" y="2130552"/>
            <a:ext cx="384048" cy="38404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54511" y="2148840"/>
            <a:ext cx="384048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31920"/>
            <a:ext cx="2487168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4671" y="4096511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1" y="4315968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4681728"/>
            <a:ext cx="21579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Check taste, safety, nutrition, stability and usability.</a:t>
            </a:r>
          </a:p>
        </p:txBody>
      </p:sp>
      <p:sp>
        <p:nvSpPr>
          <p:cNvPr id="35" name="Oval 34"/>
          <p:cNvSpPr/>
          <p:nvPr/>
        </p:nvSpPr>
        <p:spPr>
          <a:xfrm>
            <a:off x="2587752" y="4096511"/>
            <a:ext cx="384048" cy="384048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87752" y="4114799"/>
            <a:ext cx="384048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931920"/>
            <a:ext cx="2487168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593592" y="4096511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93592" y="4315968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Refinement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4681728"/>
            <a:ext cx="21579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Use feedback to improve the product.</a:t>
            </a:r>
          </a:p>
        </p:txBody>
      </p:sp>
      <p:sp>
        <p:nvSpPr>
          <p:cNvPr id="41" name="Oval 40"/>
          <p:cNvSpPr/>
          <p:nvPr/>
        </p:nvSpPr>
        <p:spPr>
          <a:xfrm>
            <a:off x="5376672" y="4096511"/>
            <a:ext cx="384048" cy="384048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76672" y="4114799"/>
            <a:ext cx="384048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931920"/>
            <a:ext cx="2487168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82512" y="4096511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82512" y="4315968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Challenges &amp; Launch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681728"/>
            <a:ext cx="21579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Plan risk controls, scale-up and commercialization.</a:t>
            </a:r>
          </a:p>
        </p:txBody>
      </p:sp>
      <p:sp>
        <p:nvSpPr>
          <p:cNvPr id="47" name="Oval 46"/>
          <p:cNvSpPr/>
          <p:nvPr/>
        </p:nvSpPr>
        <p:spPr>
          <a:xfrm>
            <a:off x="8165592" y="4096511"/>
            <a:ext cx="384048" cy="384048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65592" y="4114799"/>
            <a:ext cx="384048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08192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972"/>
                </a:solidFill>
                <a:latin typeface="Aptos"/>
              </a:defRPr>
            </a:pPr>
            <a:r>
              <a:t>Project logic: market evidence informs the need; testing evidence informs refinement.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Project framework adapted to a student product-development study.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COMPANY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Amul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C1F24"/>
                </a:solidFill>
                <a:latin typeface="Aptos"/>
              </a:defRPr>
            </a:pPr>
            <a:r>
              <a:t>A cooperative system with a broad consumer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>
                <a:solidFill>
                  <a:srgbClr val="1C1F24"/>
                </a:solidFill>
                <a:latin typeface="Aptos"/>
              </a:defRPr>
            </a:pPr>
            <a:r>
              <a:t>• GCMMF markets Amul and Sagar branded products and states that its portfolio spans milk, ghee, butter, cheese, paneer, ice cream, milk powder, health beverages and traditional sweets.</a:t>
            </a:r>
          </a:p>
          <a:p>
            <a:pPr>
              <a:spcAft>
                <a:spcPts val="300"/>
              </a:spcAft>
              <a:defRPr sz="1350">
                <a:solidFill>
                  <a:srgbClr val="1C1F24"/>
                </a:solidFill>
                <a:latin typeface="Aptos"/>
              </a:defRPr>
            </a:pPr>
            <a:r>
              <a:t>• Amul’s official shop currently lists multiple dairy categories, including lactose-free and calcium-oriented milk products.</a:t>
            </a:r>
          </a:p>
          <a:p>
            <a:pPr>
              <a:spcAft>
                <a:spcPts val="300"/>
              </a:spcAft>
              <a:defRPr sz="1350">
                <a:solidFill>
                  <a:srgbClr val="1C1F24"/>
                </a:solidFill>
                <a:latin typeface="Aptos"/>
              </a:defRPr>
            </a:pPr>
            <a:r>
              <a:t>• The cooperative model links consumer demand with a large milk-producer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224028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65392" y="149047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709928"/>
            <a:ext cx="1911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18,554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75688"/>
            <a:ext cx="1911096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village milk cooperative societies</a:t>
            </a:r>
            <a:br/>
            <a:r>
              <a:t>(Amul official site)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325880"/>
            <a:ext cx="224028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88552" y="1490472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88552" y="1709928"/>
            <a:ext cx="1911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3.6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075688"/>
            <a:ext cx="1911096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milk producer members</a:t>
            </a:r>
            <a:br/>
            <a:r>
              <a:t>(Amul official site)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71800"/>
            <a:ext cx="224028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65392" y="3136392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3355848"/>
            <a:ext cx="1911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10 lakh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721608"/>
            <a:ext cx="1911096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retailers</a:t>
            </a:r>
            <a:br/>
            <a:r>
              <a:t>(Amul official site)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971800"/>
            <a:ext cx="224028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88552" y="3136392"/>
            <a:ext cx="493776" cy="109728"/>
          </a:xfrm>
          <a:prstGeom prst="roundRect">
            <a:avLst/>
          </a:prstGeom>
          <a:solidFill>
            <a:srgbClr val="EE8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3355848"/>
            <a:ext cx="1911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28 M L/day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3721608"/>
            <a:ext cx="1911096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stated daily milk procurement</a:t>
            </a:r>
            <a:br/>
            <a:r>
              <a:t>(Amul official site)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6002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5074920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Milk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4892040"/>
            <a:ext cx="16002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69464" y="5074920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Dahi / Lassi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892040"/>
            <a:ext cx="16002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52544" y="5074920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Butter &amp; Ghee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59" y="4892040"/>
            <a:ext cx="16002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35624" y="5074920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Cheese &amp; Paneer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892040"/>
            <a:ext cx="16002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18704" y="5074920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Ice Cream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4892040"/>
            <a:ext cx="16002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01784" y="5074920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Protein / Functional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Source: Amul official shop / About Us page (accessed 2026). Figures are statements published on the site and may reflect the company’s reported network at the page date.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Amul dairy portfolio: breadth creates room for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581912"/>
            <a:ext cx="502920" cy="50292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00200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58191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MILK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89280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D60"/>
                </a:solidFill>
                <a:latin typeface="Aptos"/>
              </a:defRPr>
            </a:pPr>
            <a:r>
              <a:t>Taza • Gold • Lactose Free • Calci+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3288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Daily nutrition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9431" y="1581912"/>
            <a:ext cx="502920" cy="502920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600200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58191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FERMENTED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189280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D60"/>
                </a:solidFill>
                <a:latin typeface="Aptos"/>
              </a:defRPr>
            </a:pPr>
            <a:r>
              <a:t>Dahi • Lassi • Buttermilk • Probiotic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53288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Gut-friendly formats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8471" y="1581912"/>
            <a:ext cx="502920" cy="502920"/>
          </a:xfrm>
          <a:prstGeom prst="ellipse">
            <a:avLst/>
          </a:prstGeom>
          <a:solidFill>
            <a:srgbClr val="EE8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1600200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58191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FAT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189280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D60"/>
                </a:solidFill>
                <a:latin typeface="Aptos"/>
              </a:defRPr>
            </a:pPr>
            <a:r>
              <a:t>Butter • Ghee • Cream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53288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Staples + premium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3730752"/>
            <a:ext cx="502920" cy="502920"/>
          </a:xfrm>
          <a:prstGeom prst="ellipse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3749039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373075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PROTEIN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0472" y="40416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D60"/>
                </a:solidFill>
                <a:latin typeface="Aptos"/>
              </a:defRPr>
            </a:pPr>
            <a:r>
              <a:t>Paneer • High-protein dairy • Whey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68172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Fitness / nutrition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99431" y="3730752"/>
            <a:ext cx="502920" cy="502920"/>
          </a:xfrm>
          <a:prstGeom prst="ellipse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9431" y="3749039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373075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CHEESE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40416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D60"/>
                </a:solidFill>
                <a:latin typeface="Aptos"/>
              </a:defRPr>
            </a:pPr>
            <a:r>
              <a:t>Slices • Blocks • Mozzarella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468172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Convenience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48471" y="3730752"/>
            <a:ext cx="502920" cy="50292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48471" y="3749039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373075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TREATS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40416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2D60"/>
                </a:solidFill>
                <a:latin typeface="Aptos"/>
              </a:defRPr>
            </a:pPr>
            <a:r>
              <a:t>Ice cream • Mithai • Flavoured dairy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468172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Indulgence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70448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BE0000"/>
                </a:solidFill>
                <a:latin typeface="Aptos"/>
              </a:defRPr>
            </a:pPr>
            <a:r>
              <a:t>Design implication: the proposed concept should extend an existing consumer habit (drinking lassi) rather than create a completely new category.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Source: Amul online shop category listings (current site).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1. Identify the consumer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C1F24"/>
                </a:solidFill>
                <a:latin typeface="Aptos"/>
              </a:defRPr>
            </a:pPr>
            <a:r>
              <a:t>Opportunity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744200" cy="10515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72D60"/>
                </a:solidFill>
                <a:latin typeface="Aptos Display"/>
              </a:defRPr>
            </a:pPr>
            <a:r>
              <a:t>“Consumers increasingly want convenient dairy that feels traditional, tastes familiar, and delivers a clear nutrition benefit.”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3246120" cy="19659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341071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63016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Need A — Nutrition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95928"/>
            <a:ext cx="291693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High-protein / functional dairy is gaining attention, especially for convenient, on-the-go consumption.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246120"/>
            <a:ext cx="3246120" cy="19659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6552" y="3410712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363016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Need B — Digestive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995928"/>
            <a:ext cx="291693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Lactose-free options are expanding from niche offerings toward broader consumer awareness.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246120"/>
            <a:ext cx="3246120" cy="19659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36992" y="3410712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363016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Need C — Convenience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995928"/>
            <a:ext cx="291693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Single-serve, ready-to-drink formats reduce preparation time and fit student, office and fitness routines.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E0000"/>
                </a:solidFill>
                <a:latin typeface="Aptos"/>
              </a:defRPr>
            </a:pPr>
            <a:r>
              <a:t>Design brief → Create an Amul dairy beverage concept that combines familiar Indian taste + convenient format + measurable functional nutrition.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Evidence base: industry market research + Mint reporting on lactose-free dairy trends. Consumer statement above is a project synthesis, not an Amul quotation.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2. Market research: a large market with a functional-nutrition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55778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53212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972"/>
                </a:solidFill>
                <a:latin typeface="Aptos"/>
              </a:defRPr>
            </a:pPr>
            <a:r>
              <a:t>Third-party estimate: ~₹11.3T (2025) → ~₹41.9T (2035), ~14% CAGR.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08760"/>
            <a:ext cx="4709160" cy="109728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56831" y="1673351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1" y="1892807"/>
            <a:ext cx="43799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221.4 MMT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258568"/>
            <a:ext cx="437997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USDA/FAS forecast for India’s fluid milk production in 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88920"/>
            <a:ext cx="4709160" cy="109728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56831" y="2953512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1" y="3172968"/>
            <a:ext cx="43799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Functional nutrition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3538727"/>
            <a:ext cx="437997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Industry research highlights demand for high-protein, probiotic, lactose-free and fortified dairy.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069080"/>
            <a:ext cx="4709160" cy="109728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56831" y="4233672"/>
            <a:ext cx="493776" cy="109728"/>
          </a:xfrm>
          <a:prstGeom prst="roundRect">
            <a:avLst/>
          </a:prstGeom>
          <a:solidFill>
            <a:srgbClr val="EE8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6831" y="4453128"/>
            <a:ext cx="43799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Premium + convenient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4818888"/>
            <a:ext cx="437997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RTD drinks, clean-label positioning and modern formats are part of the market shift.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559552"/>
            <a:ext cx="4572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E0000"/>
                </a:solidFill>
                <a:latin typeface="Aptos"/>
              </a:defRPr>
            </a:pPr>
            <a:r>
              <a:t>Implication → build on a familiar dairy format and differentiate with a clear benefit.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Sources: Expert Market Research (market estimate, 2025–2035); USDA/FAS Dairy and Products Annual India 2025 (2026 milk production forecast); Mint (2026 reporting on lactose-free trend). Market estimate is not an Amul disclosure.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3. Product design starts with a clear target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58191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0136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Students &amp; young professionals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67128"/>
            <a:ext cx="2916936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Need: portable breakfast / snack</a:t>
            </a:r>
            <a:br/>
            <a:r>
              <a:t>Decision factors: taste, price, convenience, familiar brand.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24612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16552" y="1581912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80136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Fitness-conscious consumers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167128"/>
            <a:ext cx="2916936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Need: protein with easy consumption</a:t>
            </a:r>
            <a:br/>
            <a:r>
              <a:t>Decision factors: protein quantity, calories, mouthfeel.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417320"/>
            <a:ext cx="324612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36992" y="1581912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180136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Digestive-sensitive consumers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167128"/>
            <a:ext cx="2916936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Need: dairy without regular lactose</a:t>
            </a:r>
            <a:br/>
            <a:r>
              <a:t>Decision factors: tolerance, clear labeling,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1F24"/>
                </a:solidFill>
                <a:latin typeface="Aptos"/>
              </a:defRPr>
            </a:pPr>
            <a:r>
              <a:t>Design priorities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224528"/>
            <a:ext cx="256032" cy="256032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42816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2062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Taste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4197096"/>
            <a:ext cx="3017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26972"/>
                </a:solidFill>
                <a:latin typeface="Aptos"/>
              </a:defRPr>
            </a:pPr>
            <a:r>
              <a:t>Traditional lassi profile; fruit + mild acidity.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4224528"/>
            <a:ext cx="256032" cy="256032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4242816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2062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Nutrition second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197096"/>
            <a:ext cx="3017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26972"/>
                </a:solidFill>
                <a:latin typeface="Aptos"/>
              </a:defRPr>
            </a:pPr>
            <a:r>
              <a:t>Target 8–10 g protein / 200 mL as a project specification.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138928"/>
            <a:ext cx="256032" cy="256032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157216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1206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Trust always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39" y="5111496"/>
            <a:ext cx="3017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26972"/>
                </a:solidFill>
                <a:latin typeface="Aptos"/>
              </a:defRPr>
            </a:pPr>
            <a:r>
              <a:t>Familiar Amul identity + transparent nutrition label.</a:t>
            </a:r>
          </a:p>
        </p:txBody>
      </p:sp>
      <p:sp>
        <p:nvSpPr>
          <p:cNvPr id="31" name="Oval 30"/>
          <p:cNvSpPr/>
          <p:nvPr/>
        </p:nvSpPr>
        <p:spPr>
          <a:xfrm>
            <a:off x="6126480" y="5138928"/>
            <a:ext cx="256032" cy="256032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5157216"/>
            <a:ext cx="256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1206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Convenience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111496"/>
            <a:ext cx="3017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26972"/>
                </a:solidFill>
                <a:latin typeface="Aptos"/>
              </a:defRPr>
            </a:pPr>
            <a:r>
              <a:t>200 mL single-serve, easy to carry, cold-chain format.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Target segments are project hypotheses derived from market trends; they should be validated with a local student/consumer survey before launch.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4. Proposed product: Amul Probiotic High-Protein Lassi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C1F24"/>
                </a:solidFill>
                <a:latin typeface="Aptos"/>
              </a:defRPr>
            </a:pPr>
            <a:r>
              <a:t>A familiar category, upgraded for modern nutrition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1307" y="1874519"/>
            <a:ext cx="1152144" cy="505206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85900" y="2263139"/>
            <a:ext cx="822960" cy="582930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2057400" cy="2914650"/>
          </a:xfrm>
          <a:prstGeom prst="round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3271" y="3429000"/>
            <a:ext cx="1728216" cy="1554480"/>
          </a:xfrm>
          <a:prstGeom prst="rect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623310"/>
            <a:ext cx="1563624" cy="4274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AMUL PROLIFE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050791"/>
            <a:ext cx="1563624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72D60"/>
                </a:solidFill>
                <a:latin typeface="Aptos"/>
              </a:defRPr>
            </a:pPr>
            <a:r>
              <a:t>MANGO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89" y="4672583"/>
            <a:ext cx="1440180" cy="3497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626972"/>
                </a:solidFill>
                <a:latin typeface="Aptos"/>
              </a:defRPr>
            </a:pPr>
            <a:r>
              <a:t>200 mL •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7830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72D60"/>
                </a:solidFill>
                <a:latin typeface="Aptos"/>
              </a:defRPr>
            </a:pPr>
            <a:r>
              <a:t>Concept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240280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40280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C1F24"/>
                </a:solidFill>
                <a:latin typeface="Aptos"/>
              </a:defRPr>
            </a:pPr>
            <a:r>
              <a:t>200 mL ready-to-drink lassi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807208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Protein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07208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C1F24"/>
                </a:solidFill>
                <a:latin typeface="Aptos"/>
              </a:defRPr>
            </a:pPr>
            <a:r>
              <a:t>8–10 g / serving — project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374136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Functional cue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74136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C1F24"/>
                </a:solidFill>
                <a:latin typeface="Aptos"/>
              </a:defRPr>
            </a:pPr>
            <a:r>
              <a:t>Live cultures / probiotic positioning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941064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Flavours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41064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C1F24"/>
                </a:solidFill>
                <a:latin typeface="Aptos"/>
              </a:defRPr>
            </a:pPr>
            <a:r>
              <a:t>Mango • Berry • Masala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507992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07992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C1F24"/>
                </a:solidFill>
                <a:latin typeface="Aptos"/>
              </a:defRPr>
            </a:pPr>
            <a:r>
              <a:t>Nutrition + Taste, rooted in lassi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074920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74920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C1F24"/>
                </a:solidFill>
                <a:latin typeface="Aptos"/>
              </a:defRPr>
            </a:pPr>
            <a:r>
              <a:t>PET bottle or aseptic carton depending on shelf-life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17556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72D60"/>
                </a:solidFill>
                <a:latin typeface="Aptos"/>
              </a:defRPr>
            </a:pPr>
            <a:r>
              <a:t>Variant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286000"/>
            <a:ext cx="3291840" cy="8229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55279" y="2441448"/>
            <a:ext cx="804672" cy="457200"/>
          </a:xfrm>
          <a:prstGeom prst="roundRect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28431" y="2560320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BE0000"/>
                </a:solidFill>
                <a:latin typeface="Aptos"/>
              </a:defRPr>
            </a:pPr>
            <a:r>
              <a:t>MANGO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2832" y="2487168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Sweet + familiar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2715768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972"/>
                </a:solidFill>
                <a:latin typeface="Aptos"/>
              </a:defRPr>
            </a:pPr>
            <a:r>
              <a:t>consumer proposition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310128"/>
            <a:ext cx="3291840" cy="8229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55279" y="3465576"/>
            <a:ext cx="804672" cy="457200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8431" y="3584448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BERRY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2832" y="3511296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Premium + youthful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3739896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972"/>
                </a:solidFill>
                <a:latin typeface="Aptos"/>
              </a:defRPr>
            </a:pPr>
            <a:r>
              <a:t>consumer proposition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334256"/>
            <a:ext cx="3291840" cy="8229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955279" y="4489704"/>
            <a:ext cx="804672" cy="457200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28431" y="4608576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MASALA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4535424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Savory + traditional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2832" y="4764024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972"/>
                </a:solidFill>
                <a:latin typeface="Aptos"/>
              </a:defRPr>
            </a:pPr>
            <a:r>
              <a:t>consumer proposition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Concept is a student project proposal, not a current Amul commercial product or announcement. Numerical nutrition targets are design specifications to be validated.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5. Product design: formulation + packaging +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63040"/>
            <a:ext cx="530352" cy="530352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30352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389888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664208"/>
            <a:ext cx="1078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26972"/>
                </a:solidFill>
                <a:latin typeface="Aptos"/>
              </a:defRPr>
            </a:pPr>
            <a:r>
              <a:t>Curd / milk</a:t>
            </a:r>
          </a:p>
        </p:txBody>
      </p:sp>
      <p:sp>
        <p:nvSpPr>
          <p:cNvPr id="10" name="Oval 9"/>
          <p:cNvSpPr/>
          <p:nvPr/>
        </p:nvSpPr>
        <p:spPr>
          <a:xfrm>
            <a:off x="2423160" y="1463040"/>
            <a:ext cx="530352" cy="530352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481328"/>
            <a:ext cx="530352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1389888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Nutrition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1664208"/>
            <a:ext cx="1078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26972"/>
                </a:solidFill>
                <a:latin typeface="Aptos"/>
              </a:defRPr>
            </a:pPr>
            <a:r>
              <a:t>Protein ingredient</a:t>
            </a:r>
          </a:p>
        </p:txBody>
      </p:sp>
      <p:sp>
        <p:nvSpPr>
          <p:cNvPr id="14" name="Oval 13"/>
          <p:cNvSpPr/>
          <p:nvPr/>
        </p:nvSpPr>
        <p:spPr>
          <a:xfrm>
            <a:off x="4297679" y="1463040"/>
            <a:ext cx="530352" cy="530352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79" y="1481328"/>
            <a:ext cx="530352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7" y="1389888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7" y="1664208"/>
            <a:ext cx="1078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26972"/>
                </a:solidFill>
                <a:latin typeface="Aptos"/>
              </a:defRPr>
            </a:pPr>
            <a:r>
              <a:t>Culture / probiotic</a:t>
            </a:r>
          </a:p>
        </p:txBody>
      </p:sp>
      <p:sp>
        <p:nvSpPr>
          <p:cNvPr id="18" name="Oval 17"/>
          <p:cNvSpPr/>
          <p:nvPr/>
        </p:nvSpPr>
        <p:spPr>
          <a:xfrm>
            <a:off x="6172199" y="1463040"/>
            <a:ext cx="530352" cy="530352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199" y="1481328"/>
            <a:ext cx="530352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7" y="1389888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Flavour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7" y="1664208"/>
            <a:ext cx="1078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26972"/>
                </a:solidFill>
                <a:latin typeface="Aptos"/>
              </a:defRPr>
            </a:pPr>
            <a:r>
              <a:t>Fruit / spice</a:t>
            </a:r>
          </a:p>
        </p:txBody>
      </p:sp>
      <p:sp>
        <p:nvSpPr>
          <p:cNvPr id="22" name="Oval 21"/>
          <p:cNvSpPr/>
          <p:nvPr/>
        </p:nvSpPr>
        <p:spPr>
          <a:xfrm>
            <a:off x="8046719" y="1463040"/>
            <a:ext cx="530352" cy="530352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9" y="1481328"/>
            <a:ext cx="530352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389888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1664208"/>
            <a:ext cx="1078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26972"/>
                </a:solidFill>
                <a:latin typeface="Aptos"/>
              </a:defRPr>
            </a:pPr>
            <a:r>
              <a:t>Homogenize + stabilize</a:t>
            </a:r>
          </a:p>
        </p:txBody>
      </p:sp>
      <p:sp>
        <p:nvSpPr>
          <p:cNvPr id="26" name="Oval 25"/>
          <p:cNvSpPr/>
          <p:nvPr/>
        </p:nvSpPr>
        <p:spPr>
          <a:xfrm>
            <a:off x="9921240" y="1463040"/>
            <a:ext cx="530352" cy="530352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1481328"/>
            <a:ext cx="530352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9608" y="1389888"/>
            <a:ext cx="1078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1F24"/>
                </a:solidFill>
                <a:latin typeface="Aptos"/>
              </a:defRPr>
            </a:pPr>
            <a:r>
              <a:t>Pack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9608" y="1664208"/>
            <a:ext cx="1078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26972"/>
                </a:solidFill>
                <a:latin typeface="Aptos"/>
              </a:defRPr>
            </a:pPr>
            <a:r>
              <a:t>200 mL RTD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2743200"/>
            <a:ext cx="33832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96112" y="290779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3127248"/>
            <a:ext cx="3054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Formulation concept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3493008"/>
            <a:ext cx="30540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Fermented dairy base + whey/milk protein + fruit/spice + permitted stabilizer + live cultures.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2743200"/>
            <a:ext cx="33832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599431" y="2907792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99431" y="3127248"/>
            <a:ext cx="3054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Packaging concept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1" y="3493008"/>
            <a:ext cx="30540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Single-serve, leak-resistant bottle/carton; high-visibility nutrition callouts; simple recycling guidance.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743200"/>
            <a:ext cx="33832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302752" y="2907792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02752" y="3127248"/>
            <a:ext cx="30540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Brand positioning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3493008"/>
            <a:ext cx="30540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26972"/>
                </a:solidFill>
                <a:latin typeface="Aptos"/>
              </a:defRPr>
            </a:pPr>
            <a:r>
              <a:t>Amul trust + Indian taste + functional nutrition. Avoid medicinal claims; keep benefit statements evidence-based.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6634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Front-of-pack hierarchy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074920"/>
            <a:ext cx="3749039" cy="914400"/>
          </a:xfrm>
          <a:prstGeom prst="roundRect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" y="52120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E0000"/>
                </a:solidFill>
                <a:latin typeface="Aptos"/>
              </a:defRPr>
            </a:pPr>
            <a:r>
              <a:t>AMUL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19" y="51937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2D60"/>
                </a:solidFill>
                <a:latin typeface="Aptos"/>
              </a:defRPr>
            </a:pPr>
            <a:r>
              <a:t>PROTEIN + PROBIOTIC LASSI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19" y="546811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26972"/>
                </a:solidFill>
                <a:latin typeface="Aptos"/>
              </a:defRPr>
            </a:pPr>
            <a:r>
              <a:t>Mango • 200 mL • Nutrition panel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4754880"/>
            <a:ext cx="6217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72D60"/>
                </a:solidFill>
                <a:latin typeface="Aptos"/>
              </a:defRPr>
            </a:pPr>
            <a:r>
              <a:t>Key design rule: do not overload the pack. One consumer promise should dominate; secondary benefits support 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Design specifications are proposed for the academic prototype and must be checked against FSSAI requirements and commercial process feasibility.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6. Prototyping: start small, learn fast, scale carefully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783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847088"/>
            <a:ext cx="457200" cy="45720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865376"/>
            <a:ext cx="457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95728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C1F24"/>
                </a:solidFill>
                <a:latin typeface="Aptos"/>
              </a:defRPr>
            </a:pPr>
            <a:r>
              <a:t>Lab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816352"/>
            <a:ext cx="144475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26972"/>
                </a:solidFill>
                <a:latin typeface="Aptos"/>
              </a:defRPr>
            </a:pPr>
            <a:r>
              <a:t>5–10 L</a:t>
            </a:r>
          </a:p>
        </p:txBody>
      </p:sp>
      <p:sp>
        <p:nvSpPr>
          <p:cNvPr id="11" name="Chevron 10"/>
          <p:cNvSpPr/>
          <p:nvPr/>
        </p:nvSpPr>
        <p:spPr>
          <a:xfrm>
            <a:off x="2487168" y="2331720"/>
            <a:ext cx="329184" cy="502920"/>
          </a:xfrm>
          <a:prstGeom prst="chevron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0360" y="1645920"/>
            <a:ext cx="1783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44952" y="1847088"/>
            <a:ext cx="457200" cy="45720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1865376"/>
            <a:ext cx="457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395728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C1F24"/>
                </a:solidFill>
                <a:latin typeface="Aptos"/>
              </a:defRPr>
            </a:pPr>
            <a:r>
              <a:t>Recipe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816352"/>
            <a:ext cx="144475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26972"/>
                </a:solidFill>
                <a:latin typeface="Aptos"/>
              </a:defRPr>
            </a:pPr>
            <a:r>
              <a:t>pH • sweetness • viscosity</a:t>
            </a:r>
          </a:p>
        </p:txBody>
      </p:sp>
      <p:sp>
        <p:nvSpPr>
          <p:cNvPr id="17" name="Chevron 16"/>
          <p:cNvSpPr/>
          <p:nvPr/>
        </p:nvSpPr>
        <p:spPr>
          <a:xfrm>
            <a:off x="4727448" y="2331720"/>
            <a:ext cx="329184" cy="502920"/>
          </a:xfrm>
          <a:prstGeom prst="chevron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20640" y="1645920"/>
            <a:ext cx="1783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85232" y="1847088"/>
            <a:ext cx="457200" cy="45720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5232" y="1865376"/>
            <a:ext cx="457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395728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C1F24"/>
                </a:solidFill>
                <a:latin typeface="Aptos"/>
              </a:defRPr>
            </a:pPr>
            <a:r>
              <a:t>Pilot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816352"/>
            <a:ext cx="144475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26972"/>
                </a:solidFill>
                <a:latin typeface="Aptos"/>
              </a:defRPr>
            </a:pPr>
            <a:r>
              <a:t>100–500 L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331720"/>
            <a:ext cx="329184" cy="502920"/>
          </a:xfrm>
          <a:prstGeom prst="chevron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60920" y="1645920"/>
            <a:ext cx="1783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25512" y="1847088"/>
            <a:ext cx="457200" cy="45720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2" y="1865376"/>
            <a:ext cx="457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2395728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C1F24"/>
                </a:solidFill>
                <a:latin typeface="Aptos"/>
              </a:defRPr>
            </a:pPr>
            <a:r>
              <a:t>Pack trial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2816352"/>
            <a:ext cx="144475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26972"/>
                </a:solidFill>
                <a:latin typeface="Aptos"/>
              </a:defRPr>
            </a:pPr>
            <a:r>
              <a:t>Bottle / carton</a:t>
            </a:r>
          </a:p>
        </p:txBody>
      </p:sp>
      <p:sp>
        <p:nvSpPr>
          <p:cNvPr id="29" name="Chevron 28"/>
          <p:cNvSpPr/>
          <p:nvPr/>
        </p:nvSpPr>
        <p:spPr>
          <a:xfrm>
            <a:off x="9208008" y="2331720"/>
            <a:ext cx="329184" cy="502920"/>
          </a:xfrm>
          <a:prstGeom prst="chevron">
            <a:avLst/>
          </a:prstGeom>
          <a:solidFill>
            <a:srgbClr val="F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01200" y="1645920"/>
            <a:ext cx="1783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65792" y="1847088"/>
            <a:ext cx="457200" cy="45720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65792" y="1865376"/>
            <a:ext cx="4572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2395728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C1F24"/>
                </a:solidFill>
                <a:latin typeface="Aptos"/>
              </a:defRPr>
            </a:pPr>
            <a:r>
              <a:t>Stability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2816352"/>
            <a:ext cx="144475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26972"/>
                </a:solidFill>
                <a:latin typeface="Aptos"/>
              </a:defRPr>
            </a:pPr>
            <a:r>
              <a:t>Cold-chain / shelf-life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04164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1F24"/>
                </a:solidFill>
                <a:latin typeface="Aptos"/>
              </a:defRPr>
            </a:pPr>
            <a:r>
              <a:t>Illustrative prototype formula — 200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49884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C1F24"/>
                </a:solidFill>
                <a:latin typeface="Aptos"/>
              </a:defRPr>
            </a:pPr>
            <a:r>
              <a:t>Fermented dairy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98848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626972"/>
                </a:solidFill>
                <a:latin typeface="Aptos"/>
              </a:defRPr>
            </a:pPr>
            <a:r>
              <a:t>majority of volume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09744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C1F24"/>
                </a:solidFill>
                <a:latin typeface="Aptos"/>
              </a:defRPr>
            </a:pPr>
            <a:r>
              <a:t>Fruit puree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80974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626972"/>
                </a:solidFill>
                <a:latin typeface="Aptos"/>
              </a:defRPr>
            </a:pPr>
            <a:r>
              <a:t>~10% design starting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20640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C1F24"/>
                </a:solidFill>
                <a:latin typeface="Aptos"/>
              </a:defRPr>
            </a:pPr>
            <a:r>
              <a:t>Protein ingredient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120640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626972"/>
                </a:solidFill>
                <a:latin typeface="Aptos"/>
              </a:defRPr>
            </a:pPr>
            <a:r>
              <a:t>~2% design starting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431536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C1F24"/>
                </a:solidFill>
                <a:latin typeface="Aptos"/>
              </a:defRPr>
            </a:pPr>
            <a:r>
              <a:t>Sugar / sweetener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431536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626972"/>
                </a:solidFill>
                <a:latin typeface="Aptos"/>
              </a:defRPr>
            </a:pPr>
            <a:r>
              <a:t>tune to sensory target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4243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C1F24"/>
                </a:solidFill>
                <a:latin typeface="Aptos"/>
              </a:defRPr>
            </a:pPr>
            <a:r>
              <a:t>Stabilizer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74243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626972"/>
                </a:solidFill>
                <a:latin typeface="Aptos"/>
              </a:defRPr>
            </a:pPr>
            <a:r>
              <a:t>low level for suspension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05332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C1F24"/>
                </a:solidFill>
                <a:latin typeface="Aptos"/>
              </a:defRPr>
            </a:pPr>
            <a:r>
              <a:t>Live cultures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6053328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626972"/>
                </a:solidFill>
                <a:latin typeface="Aptos"/>
              </a:defRPr>
            </a:pPr>
            <a:r>
              <a:t>validated strain + count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4069080"/>
            <a:ext cx="5577840" cy="182880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696712" y="4233672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96712" y="4453128"/>
            <a:ext cx="524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Prototype learning goals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96712" y="4818888"/>
            <a:ext cx="5248655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• Reduce separation / sedimentation</a:t>
            </a:r>
            <a:br/>
            <a:r>
              <a:t>• Balance sweetness and acidity</a:t>
            </a:r>
            <a:br/>
            <a:r>
              <a:t>• Hit protein specification without chalky mouthfeel</a:t>
            </a:r>
            <a:br/>
            <a:r>
              <a:t>• Preserve acceptable texture during storage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Prototype values shown are illustrative project starting points, not validated commercial recipes.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7. Testing: prove taste, safety, nutrition and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514600" cy="28346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1755648"/>
            <a:ext cx="658368" cy="65836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773936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1F24"/>
                </a:solidFill>
                <a:latin typeface="Aptos"/>
              </a:defRPr>
            </a:pPr>
            <a:r>
              <a:t>Sensory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972"/>
                </a:solidFill>
                <a:latin typeface="Aptos"/>
              </a:defRPr>
            </a:pPr>
            <a:r>
              <a:t>20–30 target users</a:t>
            </a:r>
            <a:br/>
            <a:r>
              <a:t>9-point liking + JAR 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BE0000"/>
                </a:solidFill>
                <a:latin typeface="Aptos"/>
              </a:defRPr>
            </a:pPr>
            <a:r>
              <a:t>Primary question → Will people like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08760"/>
            <a:ext cx="2514600" cy="28346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43400" y="1755648"/>
            <a:ext cx="658368" cy="658368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773936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42032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1F24"/>
                </a:solidFill>
                <a:latin typeface="Aptos"/>
              </a:defRPr>
            </a:pPr>
            <a:r>
              <a:t>Microbiology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44368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972"/>
                </a:solidFill>
                <a:latin typeface="Aptos"/>
              </a:defRPr>
            </a:pPr>
            <a:r>
              <a:t>Pathogen + spoilage checks</a:t>
            </a:r>
            <a:br/>
            <a:r>
              <a:t>according to applicable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4048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172D60"/>
                </a:solidFill>
                <a:latin typeface="Aptos"/>
              </a:defRPr>
            </a:pPr>
            <a:r>
              <a:t>Primary question → Is it safe?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2514600" cy="28346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32320" y="1755648"/>
            <a:ext cx="658368" cy="658368"/>
          </a:xfrm>
          <a:prstGeom prst="ellipse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1773936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42032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1F24"/>
                </a:solidFill>
                <a:latin typeface="Aptos"/>
              </a:defRPr>
            </a:pPr>
            <a:r>
              <a:t>Shelf life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44368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972"/>
                </a:solidFill>
                <a:latin typeface="Aptos"/>
              </a:defRPr>
            </a:pPr>
            <a:r>
              <a:t>pH • acidity • viscosity • sensory</a:t>
            </a:r>
            <a:br/>
            <a:r>
              <a:t>across storage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4048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D7D5C"/>
                </a:solidFill>
                <a:latin typeface="Aptos"/>
              </a:defRPr>
            </a:pPr>
            <a:r>
              <a:t>Primary question → Does it stay stable?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1508760"/>
            <a:ext cx="2514600" cy="28346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21239" y="1755648"/>
            <a:ext cx="658368" cy="658368"/>
          </a:xfrm>
          <a:prstGeom prst="ellipse">
            <a:avLst/>
          </a:prstGeom>
          <a:solidFill>
            <a:srgbClr val="EE8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39" y="1773936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2542032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1F24"/>
                </a:solidFill>
                <a:latin typeface="Aptos"/>
              </a:defRPr>
            </a:pPr>
            <a:r>
              <a:t>Nutrition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2944368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26972"/>
                </a:solidFill>
                <a:latin typeface="Aptos"/>
              </a:defRPr>
            </a:pPr>
            <a:r>
              <a:t>Protein, sugar, fat, calories</a:t>
            </a:r>
            <a:br/>
            <a:r>
              <a:t>+ claim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84048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EE8938"/>
                </a:solidFill>
                <a:latin typeface="Aptos"/>
              </a:defRPr>
            </a:pPr>
            <a:r>
              <a:t>Primary question → Does the label match?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00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1F24"/>
                </a:solidFill>
                <a:latin typeface="Aptos"/>
              </a:defRPr>
            </a:pPr>
            <a:r>
              <a:t>Decision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85232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E0000"/>
                </a:solidFill>
                <a:latin typeface="Aptos"/>
              </a:defRPr>
            </a:pPr>
            <a:r>
              <a:t>Proceed only when the prototype meets defined safety, quality and consumer-acceptance criteria. Proposed thresholds should be confirmed by food-science / QA professionals.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Testing plan is proposed. No student test results were provided, so this deck does not invent experimental outcomes.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8. Refinement: convert feedback into measurable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14600" cy="21488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176479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21854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Prototype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0008"/>
            <a:ext cx="2185416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Too sweet / thin</a:t>
            </a:r>
            <a:br/>
            <a:br/>
            <a:r>
              <a:t>Refinement →</a:t>
            </a:r>
            <a:br/>
            <a:r>
              <a:t>Reduce sugar • increase body</a:t>
            </a:r>
          </a:p>
        </p:txBody>
      </p:sp>
      <p:sp>
        <p:nvSpPr>
          <p:cNvPr id="10" name="Chevron 9"/>
          <p:cNvSpPr/>
          <p:nvPr/>
        </p:nvSpPr>
        <p:spPr>
          <a:xfrm>
            <a:off x="3282696" y="2359152"/>
            <a:ext cx="237744" cy="475488"/>
          </a:xfrm>
          <a:prstGeom prst="chevron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514600" cy="21488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39312" y="1764792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84248"/>
            <a:ext cx="21854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Prototype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50008"/>
            <a:ext cx="2185416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Fruit settles</a:t>
            </a:r>
            <a:br/>
            <a:br/>
            <a:r>
              <a:t>Refinement →</a:t>
            </a:r>
            <a:br/>
            <a:r>
              <a:t>Improve homogenization • stabilize</a:t>
            </a:r>
          </a:p>
        </p:txBody>
      </p:sp>
      <p:sp>
        <p:nvSpPr>
          <p:cNvPr id="15" name="Chevron 14"/>
          <p:cNvSpPr/>
          <p:nvPr/>
        </p:nvSpPr>
        <p:spPr>
          <a:xfrm>
            <a:off x="6071616" y="2359152"/>
            <a:ext cx="237744" cy="475488"/>
          </a:xfrm>
          <a:prstGeom prst="chevron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514600" cy="21488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28231" y="1764792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1984248"/>
            <a:ext cx="21854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Prototype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350008"/>
            <a:ext cx="2185416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Protein aftertaste</a:t>
            </a:r>
            <a:br/>
            <a:br/>
            <a:r>
              <a:t>Refinement →</a:t>
            </a:r>
            <a:br/>
            <a:r>
              <a:t>Change protein system • flavor balance</a:t>
            </a:r>
          </a:p>
        </p:txBody>
      </p:sp>
      <p:sp>
        <p:nvSpPr>
          <p:cNvPr id="20" name="Chevron 19"/>
          <p:cNvSpPr/>
          <p:nvPr/>
        </p:nvSpPr>
        <p:spPr>
          <a:xfrm>
            <a:off x="8860536" y="2359152"/>
            <a:ext cx="237744" cy="475488"/>
          </a:xfrm>
          <a:prstGeom prst="chevron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52559" y="1600200"/>
            <a:ext cx="2514600" cy="214884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17151" y="1764792"/>
            <a:ext cx="493776" cy="109728"/>
          </a:xfrm>
          <a:prstGeom prst="roundRect">
            <a:avLst/>
          </a:prstGeom>
          <a:solidFill>
            <a:srgbClr val="EE8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1" y="1984248"/>
            <a:ext cx="21854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Prototype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2350008"/>
            <a:ext cx="2185416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Pack / shelf issue</a:t>
            </a:r>
            <a:br/>
            <a:br/>
            <a:r>
              <a:t>Refinement →</a:t>
            </a:r>
            <a:br/>
            <a:r>
              <a:t>Choose improved pack • validate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51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C1F24"/>
                </a:solidFill>
                <a:latin typeface="Aptos"/>
              </a:defRPr>
            </a:pPr>
            <a:r>
              <a:t>Feedback loop</a:t>
            </a:r>
          </a:p>
        </p:txBody>
      </p:sp>
      <p:sp>
        <p:nvSpPr>
          <p:cNvPr id="26" name="Oval 25"/>
          <p:cNvSpPr/>
          <p:nvPr/>
        </p:nvSpPr>
        <p:spPr>
          <a:xfrm>
            <a:off x="1828800" y="4892040"/>
            <a:ext cx="658368" cy="65836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0" y="4910327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623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9" name="Oval 28"/>
          <p:cNvSpPr/>
          <p:nvPr/>
        </p:nvSpPr>
        <p:spPr>
          <a:xfrm>
            <a:off x="4023360" y="4892040"/>
            <a:ext cx="658368" cy="658368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23360" y="4910327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623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4892040"/>
            <a:ext cx="658368" cy="658368"/>
          </a:xfrm>
          <a:prstGeom prst="ellipse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0" y="4910327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623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4892040"/>
            <a:ext cx="658368" cy="658368"/>
          </a:xfrm>
          <a:prstGeom prst="ellipse">
            <a:avLst/>
          </a:prstGeom>
          <a:solidFill>
            <a:srgbClr val="EE8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4910327"/>
            <a:ext cx="658368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5623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1F24"/>
                </a:solidFill>
                <a:latin typeface="Aptos"/>
              </a:defRPr>
            </a:pPr>
            <a:r>
              <a:t>Retest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818888"/>
            <a:ext cx="1828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BE0000"/>
                </a:solidFill>
                <a:latin typeface="Aptos"/>
              </a:defRPr>
            </a:pPr>
            <a:r>
              <a:t>Goal → fewer defects + better acceptance + reproducible 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Refinement examples are illustrative. Actual changes depend on measured test results.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9. Challenges and practical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90472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BE0000"/>
                </a:solidFill>
                <a:latin typeface="Aptos"/>
              </a:defRPr>
            </a:pPr>
            <a:r>
              <a:t>Milk variability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1481328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C1F24"/>
                </a:solidFill>
                <a:latin typeface="Aptos"/>
              </a:defRPr>
            </a:pPr>
            <a:r>
              <a:t>Seasonal variation can change fat/SNF and product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39" y="1993391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72D60"/>
                </a:solidFill>
                <a:latin typeface="Aptos"/>
              </a:defRPr>
            </a:pPr>
            <a:r>
              <a:t>Solution → Standardize milk + tighter incoming QC.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90472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BE0000"/>
                </a:solidFill>
                <a:latin typeface="Aptos"/>
              </a:defRPr>
            </a:pPr>
            <a:r>
              <a:t>Probiotic viability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81328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C1F24"/>
                </a:solidFill>
                <a:latin typeface="Aptos"/>
              </a:defRPr>
            </a:pPr>
            <a:r>
              <a:t>Live cultures can be sensitive to processing and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93391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72D60"/>
                </a:solidFill>
                <a:latin typeface="Aptos"/>
              </a:defRPr>
            </a:pPr>
            <a:r>
              <a:t>Solution → Select robust strains + validate process + cold chain.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62072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026664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BE0000"/>
                </a:solidFill>
                <a:latin typeface="Aptos"/>
              </a:defRPr>
            </a:pPr>
            <a:r>
              <a:t>Cost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39" y="301752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C1F24"/>
                </a:solidFill>
                <a:latin typeface="Aptos"/>
              </a:defRPr>
            </a:pPr>
            <a:r>
              <a:t>Protein ingredients and specialty inputs add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3529584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72D60"/>
                </a:solidFill>
                <a:latin typeface="Aptos"/>
              </a:defRPr>
            </a:pPr>
            <a:r>
              <a:t>Solution → Optimize dose, sourcing and pack size; test price sensitivity.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62072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026664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BE0000"/>
                </a:solidFill>
                <a:latin typeface="Aptos"/>
              </a:defRPr>
            </a:pPr>
            <a:r>
              <a:t>Regulatory claims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1752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C1F24"/>
                </a:solidFill>
                <a:latin typeface="Aptos"/>
              </a:defRPr>
            </a:pPr>
            <a:r>
              <a:t>“High protein”, “probiotic” and lactose-free claims need evidence and compliant labeling.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529584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72D60"/>
                </a:solidFill>
                <a:latin typeface="Aptos"/>
              </a:defRPr>
            </a:pPr>
            <a:r>
              <a:t>Solution → Build QA/regulatory checks into development — not after launch.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98264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" y="4562855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BE0000"/>
                </a:solidFill>
                <a:latin typeface="Aptos"/>
              </a:defRPr>
            </a:pPr>
            <a:r>
              <a:t>Cold-chain dependence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39" y="4553712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C1F24"/>
                </a:solidFill>
                <a:latin typeface="Aptos"/>
              </a:defRPr>
            </a:pPr>
            <a:r>
              <a:t>Chilled RTD dairy needs reliable distribution.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39" y="5065775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72D60"/>
                </a:solidFill>
                <a:latin typeface="Aptos"/>
              </a:defRPr>
            </a:pPr>
            <a:r>
              <a:t>Solution → Use cold-chain where needed; evaluate aseptic/UHT route for suitable concepts.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398264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4562855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BE0000"/>
                </a:solidFill>
                <a:latin typeface="Aptos"/>
              </a:defRPr>
            </a:pPr>
            <a:r>
              <a:t>Consumer 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553712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C1F24"/>
                </a:solidFill>
                <a:latin typeface="Aptos"/>
              </a:defRPr>
            </a:pPr>
            <a:r>
              <a:t>Health benefits do not guarantee repeat purchase if taste is weak.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065775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72D60"/>
                </a:solidFill>
                <a:latin typeface="Aptos"/>
              </a:defRPr>
            </a:pPr>
            <a:r>
              <a:t>Solution → Blind taste tests + iterative reformulation before scale-up.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26972"/>
                </a:solidFill>
                <a:latin typeface="Aptos"/>
              </a:defRPr>
            </a:pPr>
            <a:r>
              <a:t>Risk principle: commercialize only after validated food safety, process control and claim substantiation.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Solutions are project recommendations based on standard food-product development practice and the researched market context.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LAUNCH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10.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554480"/>
            <a:ext cx="502920" cy="50292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C1F24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26972"/>
                </a:solidFill>
                <a:latin typeface="Aptos"/>
              </a:defRPr>
            </a:pPr>
            <a:r>
              <a:t>Need + survey +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19" y="1755648"/>
            <a:ext cx="1335024" cy="7315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32887" y="1554480"/>
            <a:ext cx="502920" cy="502920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2887" y="1572768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17627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C1F24"/>
                </a:solidFill>
                <a:latin typeface="Aptos"/>
              </a:defRPr>
            </a:pPr>
            <a:r>
              <a:t>Formulation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24871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M2–4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599" y="27797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26972"/>
                </a:solidFill>
                <a:latin typeface="Aptos"/>
              </a:defRPr>
            </a:pPr>
            <a:r>
              <a:t>Lab trials +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39" y="1755648"/>
            <a:ext cx="1335024" cy="7315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07407" y="1554480"/>
            <a:ext cx="502920" cy="50292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7" y="1572768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7627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C1F2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871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M5–6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797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26972"/>
                </a:solidFill>
                <a:latin typeface="Aptos"/>
              </a:defRPr>
            </a:pPr>
            <a:r>
              <a:t>Sensory + QA + shelf-life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1755648"/>
            <a:ext cx="1335024" cy="7315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281927" y="1554480"/>
            <a:ext cx="502920" cy="502920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7" y="1572768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17627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C1F24"/>
                </a:solidFill>
                <a:latin typeface="Aptos"/>
              </a:defRPr>
            </a:pPr>
            <a:r>
              <a:t>Refine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4871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M6–7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7797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26972"/>
                </a:solidFill>
                <a:latin typeface="Aptos"/>
              </a:defRPr>
            </a:pPr>
            <a:r>
              <a:t>Recipe + pack + process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55648"/>
            <a:ext cx="1335024" cy="7315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56448" y="1554480"/>
            <a:ext cx="502920" cy="502920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6448" y="1572768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17627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C1F24"/>
                </a:solidFill>
                <a:latin typeface="Aptos"/>
              </a:defRPr>
            </a:pPr>
            <a:r>
              <a:t>Scale-up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4871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M7–9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7797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26972"/>
                </a:solidFill>
                <a:latin typeface="Aptos"/>
              </a:defRPr>
            </a:pPr>
            <a:r>
              <a:t>Pilot plant + regulatory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1755648"/>
            <a:ext cx="1335024" cy="7315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030968" y="1554480"/>
            <a:ext cx="502920" cy="502920"/>
          </a:xfrm>
          <a:prstGeom prst="ellipse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30968" y="1572768"/>
            <a:ext cx="502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17627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C1F24"/>
                </a:solidFill>
                <a:latin typeface="Aptos"/>
              </a:defRPr>
            </a:pPr>
            <a:r>
              <a:t>Launch prep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4871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E0000"/>
                </a:solidFill>
                <a:latin typeface="Aptos"/>
              </a:defRPr>
            </a:pPr>
            <a:r>
              <a:t>M9–10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7797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26972"/>
                </a:solidFill>
                <a:latin typeface="Aptos"/>
              </a:defRPr>
            </a:pPr>
            <a:r>
              <a:t>Supply + marketing + limited 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Indicative project budget (illustrative)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37083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1F24"/>
                </a:solidFill>
                <a:latin typeface="Aptos"/>
              </a:defRPr>
            </a:pPr>
            <a:r>
              <a:t>R&amp;D + testing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4379976"/>
            <a:ext cx="2834640" cy="24688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0" y="437083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₹0.5–1.0 Cr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88289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1F24"/>
                </a:solidFill>
                <a:latin typeface="Aptos"/>
              </a:defRPr>
            </a:pPr>
            <a:r>
              <a:t>Pilot + packaging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4892040"/>
            <a:ext cx="2834640" cy="24688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0" y="488289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₹1.5–2.5 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39496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1F24"/>
                </a:solidFill>
                <a:latin typeface="Aptos"/>
              </a:defRPr>
            </a:pPr>
            <a:r>
              <a:t>Launch + marketing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97480" y="5404104"/>
            <a:ext cx="2834640" cy="246888"/>
          </a:xfrm>
          <a:prstGeom prst="roundRect">
            <a:avLst/>
          </a:prstGeom>
          <a:solidFill>
            <a:srgbClr val="EE8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69280" y="539496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0000"/>
                </a:solidFill>
                <a:latin typeface="Aptos"/>
              </a:defRPr>
            </a:pPr>
            <a:r>
              <a:t>₹5–10 Cr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03720" y="4041648"/>
            <a:ext cx="4343400" cy="1572768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068312" y="4206240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68312" y="4425696"/>
            <a:ext cx="401421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Scale-up decision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8312" y="4791456"/>
            <a:ext cx="4014215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26972"/>
                </a:solidFill>
                <a:latin typeface="Aptos"/>
              </a:defRPr>
            </a:pPr>
            <a:r>
              <a:t>Use existing Amul capabilities where possible; keep investment proportional to validated demand. Cost ranges are project-level estimates, not Amul disclosures.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Timeline and budget are indicative academic planning assumptions. Actual commercial costs depend on plant, formula, pack, regulatory and marketing scope.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0000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1F24"/>
                </a:solidFill>
                <a:latin typeface="Aptos Display"/>
              </a:defRPr>
            </a:pPr>
            <a:r>
              <a:t>Conclusion: the product-development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72D60"/>
                </a:solidFill>
                <a:latin typeface="Aptos Display"/>
              </a:defRPr>
            </a:pPr>
            <a:r>
              <a:t>The strongest project story is not “a new product” — it is a tested response to a documented need.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246120" cy="205740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313432"/>
            <a:ext cx="493776" cy="109728"/>
          </a:xfrm>
          <a:prstGeom prst="round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53288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1 — Start with the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98648"/>
            <a:ext cx="2916936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India’s dairy market is large, while functional nutrition and lactose-free choices are gaining attention.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246120" cy="205740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07992" y="2313432"/>
            <a:ext cx="493776" cy="109728"/>
          </a:xfrm>
          <a:prstGeom prst="round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53288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2 — Design around familiarity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898648"/>
            <a:ext cx="2916936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A lassi-based RTD concept keeps the taste format recognizable while adding a functional proposition.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148840"/>
            <a:ext cx="3246120" cy="2057400"/>
          </a:xfrm>
          <a:prstGeom prst="roundRect">
            <a:avLst/>
          </a:prstGeom>
          <a:solidFill>
            <a:srgbClr val="F7F8FA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28431" y="2313432"/>
            <a:ext cx="493776" cy="109728"/>
          </a:xfrm>
          <a:prstGeom prst="roundRect">
            <a:avLst/>
          </a:prstGeom>
          <a:solidFill>
            <a:srgbClr val="2D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28431" y="2532888"/>
            <a:ext cx="2916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1F24"/>
                </a:solidFill>
                <a:latin typeface="Aptos"/>
              </a:defRPr>
            </a:pPr>
            <a:r>
              <a:t>3 — Test before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2898648"/>
            <a:ext cx="2916936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26972"/>
                </a:solidFill>
                <a:latin typeface="Aptos"/>
              </a:defRPr>
            </a:pPr>
            <a:r>
              <a:t>Consumer taste, safety, nutrition and shelf-life evidence should drive refinement and launch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BE0000"/>
                </a:solidFill>
                <a:latin typeface="Aptos"/>
              </a:defRPr>
            </a:pPr>
            <a:r>
              <a:t>Next step for the student project → run a small consumer survey and document Prototype 1 test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Prepared from the cited market and company sources; proposed product elements are clearly identified as project concepts.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DF7AA-E10D-C431-392C-2270EF39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C80FCD-4D1B-E7B6-91E8-4856EB4FBFD9}"/>
              </a:ext>
            </a:extLst>
          </p:cNvPr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B9273-8B26-11AD-195D-357684EF32D6}"/>
              </a:ext>
            </a:extLst>
          </p:cNvPr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97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CF550-F218-4161-0E7A-485BDAFC4BDB}"/>
              </a:ext>
            </a:extLst>
          </p:cNvPr>
          <p:cNvSpPr txBox="1"/>
          <p:nvPr/>
        </p:nvSpPr>
        <p:spPr>
          <a:xfrm>
            <a:off x="502920" y="1490008"/>
            <a:ext cx="1069848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C1F24"/>
                </a:solidFill>
                <a:latin typeface="Aptos"/>
              </a:defRPr>
            </a:pP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 b="1">
                <a:solidFill>
                  <a:srgbClr val="1C1F24"/>
                </a:solidFill>
                <a:latin typeface="Aptos"/>
              </a:defRPr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BC2AE1-F248-04BA-19A8-6D0CB500CF9F}"/>
              </a:ext>
            </a:extLst>
          </p:cNvPr>
          <p:cNvSpPr txBox="1"/>
          <p:nvPr/>
        </p:nvSpPr>
        <p:spPr>
          <a:xfrm>
            <a:off x="548640" y="6473952"/>
            <a:ext cx="9966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26972"/>
                </a:solidFill>
                <a:latin typeface="Aptos"/>
              </a:defRPr>
            </a:pPr>
            <a:r>
              <a:t>Prepared from the cited market and company sources; proposed product elements are clearly identified as project concepts.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4BD490-9991-9929-B53B-9F44C89AD52D}"/>
              </a:ext>
            </a:extLst>
          </p:cNvPr>
          <p:cNvSpPr txBox="1"/>
          <p:nvPr/>
        </p:nvSpPr>
        <p:spPr>
          <a:xfrm>
            <a:off x="10652760" y="6428232"/>
            <a:ext cx="960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26972"/>
                </a:solidFill>
                <a:latin typeface="Aptos"/>
              </a:defRPr>
            </a:pPr>
            <a:r>
              <a:t>AMUL • PRODUCT STUDY</a:t>
            </a:r>
          </a:p>
        </p:txBody>
      </p:sp>
    </p:spTree>
    <p:extLst>
      <p:ext uri="{BB962C8B-B14F-4D97-AF65-F5344CB8AC3E}">
        <p14:creationId xmlns:p14="http://schemas.microsoft.com/office/powerpoint/2010/main" val="1474922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2099</Words>
  <Application>Microsoft Office PowerPoint</Application>
  <PresentationFormat>Widescreen</PresentationFormat>
  <Paragraphs>376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satwik patil</cp:lastModifiedBy>
  <cp:revision>2</cp:revision>
  <dcterms:created xsi:type="dcterms:W3CDTF">2013-01-27T09:14:16Z</dcterms:created>
  <dcterms:modified xsi:type="dcterms:W3CDTF">2026-09-21T18:39:21Z</dcterms:modified>
  <cp:category/>
</cp:coreProperties>
</file>