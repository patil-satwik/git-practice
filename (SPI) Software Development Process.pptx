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66" r:id="rId6"/>
    <p:sldId id="265" r:id="rId7"/>
    <p:sldId id="268" r:id="rId8"/>
    <p:sldId id="269" r:id="rId9"/>
    <p:sldId id="270" r:id="rId10"/>
    <p:sldId id="330" r:id="rId11"/>
    <p:sldId id="261" r:id="rId12"/>
    <p:sldId id="267" r:id="rId13"/>
    <p:sldId id="272" r:id="rId14"/>
    <p:sldId id="262" r:id="rId15"/>
    <p:sldId id="263" r:id="rId16"/>
    <p:sldId id="273" r:id="rId17"/>
    <p:sldId id="274" r:id="rId18"/>
    <p:sldId id="275" r:id="rId19"/>
    <p:sldId id="276" r:id="rId20"/>
    <p:sldId id="277" r:id="rId21"/>
    <p:sldId id="2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8F10B-3483-A475-4781-FC336FA19F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5D695BD-D870-202F-C79E-FB557FB944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EDF5F16-6372-13D7-9FBE-D4D0F5AEB598}"/>
              </a:ext>
            </a:extLst>
          </p:cNvPr>
          <p:cNvSpPr>
            <a:spLocks noGrp="1"/>
          </p:cNvSpPr>
          <p:nvPr>
            <p:ph type="dt" sz="half" idx="10"/>
          </p:nvPr>
        </p:nvSpPr>
        <p:spPr/>
        <p:txBody>
          <a:bodyPr/>
          <a:lstStyle/>
          <a:p>
            <a:fld id="{3CCC24A0-65AC-4003-8D41-173BFD5D5D1E}" type="datetimeFigureOut">
              <a:rPr lang="en-IN" smtClean="0"/>
              <a:t>23-08-2026</a:t>
            </a:fld>
            <a:endParaRPr lang="en-IN"/>
          </a:p>
        </p:txBody>
      </p:sp>
      <p:sp>
        <p:nvSpPr>
          <p:cNvPr id="5" name="Footer Placeholder 4">
            <a:extLst>
              <a:ext uri="{FF2B5EF4-FFF2-40B4-BE49-F238E27FC236}">
                <a16:creationId xmlns:a16="http://schemas.microsoft.com/office/drawing/2014/main" id="{68795060-2D24-F8CF-4C83-8FAAFAF50A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F6E7ED-963C-A3C3-5497-7D5CB0E4CC84}"/>
              </a:ext>
            </a:extLst>
          </p:cNvPr>
          <p:cNvSpPr>
            <a:spLocks noGrp="1"/>
          </p:cNvSpPr>
          <p:nvPr>
            <p:ph type="sldNum" sz="quarter" idx="12"/>
          </p:nvPr>
        </p:nvSpPr>
        <p:spPr/>
        <p:txBody>
          <a:bodyPr/>
          <a:lstStyle/>
          <a:p>
            <a:fld id="{1A299886-54E0-410D-A886-EDF6F8A39C87}" type="slidenum">
              <a:rPr lang="en-IN" smtClean="0"/>
              <a:t>‹#›</a:t>
            </a:fld>
            <a:endParaRPr lang="en-IN"/>
          </a:p>
        </p:txBody>
      </p:sp>
    </p:spTree>
    <p:extLst>
      <p:ext uri="{BB962C8B-B14F-4D97-AF65-F5344CB8AC3E}">
        <p14:creationId xmlns:p14="http://schemas.microsoft.com/office/powerpoint/2010/main" val="3802000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B023-57B2-19D5-B2F4-1C6CC32A48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428D273-55E4-E8DB-A6AB-4D93FBC962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4CCE25-E44F-BB13-17FB-53B0B7E922C2}"/>
              </a:ext>
            </a:extLst>
          </p:cNvPr>
          <p:cNvSpPr>
            <a:spLocks noGrp="1"/>
          </p:cNvSpPr>
          <p:nvPr>
            <p:ph type="dt" sz="half" idx="10"/>
          </p:nvPr>
        </p:nvSpPr>
        <p:spPr/>
        <p:txBody>
          <a:bodyPr/>
          <a:lstStyle/>
          <a:p>
            <a:fld id="{3CCC24A0-65AC-4003-8D41-173BFD5D5D1E}" type="datetimeFigureOut">
              <a:rPr lang="en-IN" smtClean="0"/>
              <a:t>23-08-2026</a:t>
            </a:fld>
            <a:endParaRPr lang="en-IN"/>
          </a:p>
        </p:txBody>
      </p:sp>
      <p:sp>
        <p:nvSpPr>
          <p:cNvPr id="5" name="Footer Placeholder 4">
            <a:extLst>
              <a:ext uri="{FF2B5EF4-FFF2-40B4-BE49-F238E27FC236}">
                <a16:creationId xmlns:a16="http://schemas.microsoft.com/office/drawing/2014/main" id="{3639EB8F-270A-FEFC-DE0F-5D62E73B85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8B17F1-86F9-AB3C-8F00-380DC0518C3F}"/>
              </a:ext>
            </a:extLst>
          </p:cNvPr>
          <p:cNvSpPr>
            <a:spLocks noGrp="1"/>
          </p:cNvSpPr>
          <p:nvPr>
            <p:ph type="sldNum" sz="quarter" idx="12"/>
          </p:nvPr>
        </p:nvSpPr>
        <p:spPr/>
        <p:txBody>
          <a:bodyPr/>
          <a:lstStyle/>
          <a:p>
            <a:fld id="{1A299886-54E0-410D-A886-EDF6F8A39C87}" type="slidenum">
              <a:rPr lang="en-IN" smtClean="0"/>
              <a:t>‹#›</a:t>
            </a:fld>
            <a:endParaRPr lang="en-IN"/>
          </a:p>
        </p:txBody>
      </p:sp>
    </p:spTree>
    <p:extLst>
      <p:ext uri="{BB962C8B-B14F-4D97-AF65-F5344CB8AC3E}">
        <p14:creationId xmlns:p14="http://schemas.microsoft.com/office/powerpoint/2010/main" val="1196471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A33B4-96A4-8F05-7800-1B18D2A4B5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787AECD-2CD4-5880-1FBA-501C37E90A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348406-4D1C-8B00-7FBF-A536BE5FEF63}"/>
              </a:ext>
            </a:extLst>
          </p:cNvPr>
          <p:cNvSpPr>
            <a:spLocks noGrp="1"/>
          </p:cNvSpPr>
          <p:nvPr>
            <p:ph type="dt" sz="half" idx="10"/>
          </p:nvPr>
        </p:nvSpPr>
        <p:spPr/>
        <p:txBody>
          <a:bodyPr/>
          <a:lstStyle/>
          <a:p>
            <a:fld id="{3CCC24A0-65AC-4003-8D41-173BFD5D5D1E}" type="datetimeFigureOut">
              <a:rPr lang="en-IN" smtClean="0"/>
              <a:t>23-08-2026</a:t>
            </a:fld>
            <a:endParaRPr lang="en-IN"/>
          </a:p>
        </p:txBody>
      </p:sp>
      <p:sp>
        <p:nvSpPr>
          <p:cNvPr id="5" name="Footer Placeholder 4">
            <a:extLst>
              <a:ext uri="{FF2B5EF4-FFF2-40B4-BE49-F238E27FC236}">
                <a16:creationId xmlns:a16="http://schemas.microsoft.com/office/drawing/2014/main" id="{8EA211A5-7159-CACA-BE11-7536672DAC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1C3FF7-C702-4A3D-2A54-087F3D2FF793}"/>
              </a:ext>
            </a:extLst>
          </p:cNvPr>
          <p:cNvSpPr>
            <a:spLocks noGrp="1"/>
          </p:cNvSpPr>
          <p:nvPr>
            <p:ph type="sldNum" sz="quarter" idx="12"/>
          </p:nvPr>
        </p:nvSpPr>
        <p:spPr/>
        <p:txBody>
          <a:bodyPr/>
          <a:lstStyle/>
          <a:p>
            <a:fld id="{1A299886-54E0-410D-A886-EDF6F8A39C87}" type="slidenum">
              <a:rPr lang="en-IN" smtClean="0"/>
              <a:t>‹#›</a:t>
            </a:fld>
            <a:endParaRPr lang="en-IN"/>
          </a:p>
        </p:txBody>
      </p:sp>
    </p:spTree>
    <p:extLst>
      <p:ext uri="{BB962C8B-B14F-4D97-AF65-F5344CB8AC3E}">
        <p14:creationId xmlns:p14="http://schemas.microsoft.com/office/powerpoint/2010/main" val="311515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6F84F-4C1E-20EB-5540-5B3296FCF8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04C25D1-0585-2540-730A-DD61EF8E8F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E9AD6B7-7C6A-1372-BBA1-BEC611F5CB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ED726C4-693D-430B-0EB8-9F0E4400889D}"/>
              </a:ext>
            </a:extLst>
          </p:cNvPr>
          <p:cNvSpPr>
            <a:spLocks noGrp="1"/>
          </p:cNvSpPr>
          <p:nvPr>
            <p:ph type="dt" sz="half" idx="10"/>
          </p:nvPr>
        </p:nvSpPr>
        <p:spPr/>
        <p:txBody>
          <a:bodyPr/>
          <a:lstStyle/>
          <a:p>
            <a:fld id="{3CCC24A0-65AC-4003-8D41-173BFD5D5D1E}" type="datetimeFigureOut">
              <a:rPr lang="en-IN" smtClean="0"/>
              <a:t>23-08-2026</a:t>
            </a:fld>
            <a:endParaRPr lang="en-IN"/>
          </a:p>
        </p:txBody>
      </p:sp>
      <p:sp>
        <p:nvSpPr>
          <p:cNvPr id="6" name="Footer Placeholder 5">
            <a:extLst>
              <a:ext uri="{FF2B5EF4-FFF2-40B4-BE49-F238E27FC236}">
                <a16:creationId xmlns:a16="http://schemas.microsoft.com/office/drawing/2014/main" id="{B49B7734-1E35-AC4C-4E76-3EA5FB26D5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840BC1-9189-A7D0-81B4-33804AAB7592}"/>
              </a:ext>
            </a:extLst>
          </p:cNvPr>
          <p:cNvSpPr>
            <a:spLocks noGrp="1"/>
          </p:cNvSpPr>
          <p:nvPr>
            <p:ph type="sldNum" sz="quarter" idx="12"/>
          </p:nvPr>
        </p:nvSpPr>
        <p:spPr/>
        <p:txBody>
          <a:bodyPr/>
          <a:lstStyle/>
          <a:p>
            <a:fld id="{1A299886-54E0-410D-A886-EDF6F8A39C87}" type="slidenum">
              <a:rPr lang="en-IN" smtClean="0"/>
              <a:t>‹#›</a:t>
            </a:fld>
            <a:endParaRPr lang="en-IN"/>
          </a:p>
        </p:txBody>
      </p:sp>
    </p:spTree>
    <p:extLst>
      <p:ext uri="{BB962C8B-B14F-4D97-AF65-F5344CB8AC3E}">
        <p14:creationId xmlns:p14="http://schemas.microsoft.com/office/powerpoint/2010/main" val="2326640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7E724-123C-43ED-9D11-EB62EEE5CCD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7BD6ED-380E-A420-3534-B888587561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0354C8-80D9-680C-CBEC-6DDB10005E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21B8F2C-A445-0B50-F960-384AFCC89F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17E7F-8FFF-B5C6-B430-3D2DE12FB5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ACCB17C-03B7-D851-5231-2F036760222E}"/>
              </a:ext>
            </a:extLst>
          </p:cNvPr>
          <p:cNvSpPr>
            <a:spLocks noGrp="1"/>
          </p:cNvSpPr>
          <p:nvPr>
            <p:ph type="dt" sz="half" idx="10"/>
          </p:nvPr>
        </p:nvSpPr>
        <p:spPr/>
        <p:txBody>
          <a:bodyPr/>
          <a:lstStyle/>
          <a:p>
            <a:fld id="{3CCC24A0-65AC-4003-8D41-173BFD5D5D1E}" type="datetimeFigureOut">
              <a:rPr lang="en-IN" smtClean="0"/>
              <a:t>23-08-2026</a:t>
            </a:fld>
            <a:endParaRPr lang="en-IN"/>
          </a:p>
        </p:txBody>
      </p:sp>
      <p:sp>
        <p:nvSpPr>
          <p:cNvPr id="8" name="Footer Placeholder 7">
            <a:extLst>
              <a:ext uri="{FF2B5EF4-FFF2-40B4-BE49-F238E27FC236}">
                <a16:creationId xmlns:a16="http://schemas.microsoft.com/office/drawing/2014/main" id="{18A737AB-2812-0ABE-CF1F-C592C3E604A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F9849A6-BF58-9381-5C48-22F4B2F66902}"/>
              </a:ext>
            </a:extLst>
          </p:cNvPr>
          <p:cNvSpPr>
            <a:spLocks noGrp="1"/>
          </p:cNvSpPr>
          <p:nvPr>
            <p:ph type="sldNum" sz="quarter" idx="12"/>
          </p:nvPr>
        </p:nvSpPr>
        <p:spPr/>
        <p:txBody>
          <a:bodyPr/>
          <a:lstStyle/>
          <a:p>
            <a:fld id="{1A299886-54E0-410D-A886-EDF6F8A39C87}" type="slidenum">
              <a:rPr lang="en-IN" smtClean="0"/>
              <a:t>‹#›</a:t>
            </a:fld>
            <a:endParaRPr lang="en-IN"/>
          </a:p>
        </p:txBody>
      </p:sp>
    </p:spTree>
    <p:extLst>
      <p:ext uri="{BB962C8B-B14F-4D97-AF65-F5344CB8AC3E}">
        <p14:creationId xmlns:p14="http://schemas.microsoft.com/office/powerpoint/2010/main" val="4018855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98C8F-CD61-A03F-C112-7AE9478F914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E4C26C9-B737-1782-CEE6-692CF4DEB3F2}"/>
              </a:ext>
            </a:extLst>
          </p:cNvPr>
          <p:cNvSpPr>
            <a:spLocks noGrp="1"/>
          </p:cNvSpPr>
          <p:nvPr>
            <p:ph type="dt" sz="half" idx="10"/>
          </p:nvPr>
        </p:nvSpPr>
        <p:spPr/>
        <p:txBody>
          <a:bodyPr/>
          <a:lstStyle/>
          <a:p>
            <a:fld id="{3CCC24A0-65AC-4003-8D41-173BFD5D5D1E}" type="datetimeFigureOut">
              <a:rPr lang="en-IN" smtClean="0"/>
              <a:t>23-08-2026</a:t>
            </a:fld>
            <a:endParaRPr lang="en-IN"/>
          </a:p>
        </p:txBody>
      </p:sp>
      <p:sp>
        <p:nvSpPr>
          <p:cNvPr id="4" name="Footer Placeholder 3">
            <a:extLst>
              <a:ext uri="{FF2B5EF4-FFF2-40B4-BE49-F238E27FC236}">
                <a16:creationId xmlns:a16="http://schemas.microsoft.com/office/drawing/2014/main" id="{72CA7782-43F4-4CCE-4B67-381AA299C42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C112C65-60DA-A610-E96F-615D9CEB4FB4}"/>
              </a:ext>
            </a:extLst>
          </p:cNvPr>
          <p:cNvSpPr>
            <a:spLocks noGrp="1"/>
          </p:cNvSpPr>
          <p:nvPr>
            <p:ph type="sldNum" sz="quarter" idx="12"/>
          </p:nvPr>
        </p:nvSpPr>
        <p:spPr/>
        <p:txBody>
          <a:bodyPr/>
          <a:lstStyle/>
          <a:p>
            <a:fld id="{1A299886-54E0-410D-A886-EDF6F8A39C87}" type="slidenum">
              <a:rPr lang="en-IN" smtClean="0"/>
              <a:t>‹#›</a:t>
            </a:fld>
            <a:endParaRPr lang="en-IN"/>
          </a:p>
        </p:txBody>
      </p:sp>
    </p:spTree>
    <p:extLst>
      <p:ext uri="{BB962C8B-B14F-4D97-AF65-F5344CB8AC3E}">
        <p14:creationId xmlns:p14="http://schemas.microsoft.com/office/powerpoint/2010/main" val="1916609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690390-95AE-C26E-391B-4C5CF9191527}"/>
              </a:ext>
            </a:extLst>
          </p:cNvPr>
          <p:cNvSpPr>
            <a:spLocks noGrp="1"/>
          </p:cNvSpPr>
          <p:nvPr>
            <p:ph type="dt" sz="half" idx="10"/>
          </p:nvPr>
        </p:nvSpPr>
        <p:spPr/>
        <p:txBody>
          <a:bodyPr/>
          <a:lstStyle/>
          <a:p>
            <a:fld id="{3CCC24A0-65AC-4003-8D41-173BFD5D5D1E}" type="datetimeFigureOut">
              <a:rPr lang="en-IN" smtClean="0"/>
              <a:t>23-08-2026</a:t>
            </a:fld>
            <a:endParaRPr lang="en-IN"/>
          </a:p>
        </p:txBody>
      </p:sp>
      <p:sp>
        <p:nvSpPr>
          <p:cNvPr id="3" name="Footer Placeholder 2">
            <a:extLst>
              <a:ext uri="{FF2B5EF4-FFF2-40B4-BE49-F238E27FC236}">
                <a16:creationId xmlns:a16="http://schemas.microsoft.com/office/drawing/2014/main" id="{2F232115-98B4-BB8D-CA24-19C3BCB989A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61EF82D-B634-37A5-FE68-018BE237B49C}"/>
              </a:ext>
            </a:extLst>
          </p:cNvPr>
          <p:cNvSpPr>
            <a:spLocks noGrp="1"/>
          </p:cNvSpPr>
          <p:nvPr>
            <p:ph type="sldNum" sz="quarter" idx="12"/>
          </p:nvPr>
        </p:nvSpPr>
        <p:spPr/>
        <p:txBody>
          <a:bodyPr/>
          <a:lstStyle/>
          <a:p>
            <a:fld id="{1A299886-54E0-410D-A886-EDF6F8A39C87}" type="slidenum">
              <a:rPr lang="en-IN" smtClean="0"/>
              <a:t>‹#›</a:t>
            </a:fld>
            <a:endParaRPr lang="en-IN"/>
          </a:p>
        </p:txBody>
      </p:sp>
    </p:spTree>
    <p:extLst>
      <p:ext uri="{BB962C8B-B14F-4D97-AF65-F5344CB8AC3E}">
        <p14:creationId xmlns:p14="http://schemas.microsoft.com/office/powerpoint/2010/main" val="836619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82040-DF95-D4C5-FFF3-084D893D39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2898775-CC8B-9896-24CE-F6FF8231A2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F05E40B-D794-140B-EF3A-0F83CFCB8A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2CE982-548D-1EE9-42EB-3E01BEB669D3}"/>
              </a:ext>
            </a:extLst>
          </p:cNvPr>
          <p:cNvSpPr>
            <a:spLocks noGrp="1"/>
          </p:cNvSpPr>
          <p:nvPr>
            <p:ph type="dt" sz="half" idx="10"/>
          </p:nvPr>
        </p:nvSpPr>
        <p:spPr/>
        <p:txBody>
          <a:bodyPr/>
          <a:lstStyle/>
          <a:p>
            <a:fld id="{3CCC24A0-65AC-4003-8D41-173BFD5D5D1E}" type="datetimeFigureOut">
              <a:rPr lang="en-IN" smtClean="0"/>
              <a:t>23-08-2026</a:t>
            </a:fld>
            <a:endParaRPr lang="en-IN"/>
          </a:p>
        </p:txBody>
      </p:sp>
      <p:sp>
        <p:nvSpPr>
          <p:cNvPr id="6" name="Footer Placeholder 5">
            <a:extLst>
              <a:ext uri="{FF2B5EF4-FFF2-40B4-BE49-F238E27FC236}">
                <a16:creationId xmlns:a16="http://schemas.microsoft.com/office/drawing/2014/main" id="{7C6DDBD1-69AF-FB40-FA40-D23839775C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C0C565-26E8-BC4B-86A4-F6B5543A255B}"/>
              </a:ext>
            </a:extLst>
          </p:cNvPr>
          <p:cNvSpPr>
            <a:spLocks noGrp="1"/>
          </p:cNvSpPr>
          <p:nvPr>
            <p:ph type="sldNum" sz="quarter" idx="12"/>
          </p:nvPr>
        </p:nvSpPr>
        <p:spPr/>
        <p:txBody>
          <a:bodyPr/>
          <a:lstStyle/>
          <a:p>
            <a:fld id="{1A299886-54E0-410D-A886-EDF6F8A39C87}" type="slidenum">
              <a:rPr lang="en-IN" smtClean="0"/>
              <a:t>‹#›</a:t>
            </a:fld>
            <a:endParaRPr lang="en-IN"/>
          </a:p>
        </p:txBody>
      </p:sp>
    </p:spTree>
    <p:extLst>
      <p:ext uri="{BB962C8B-B14F-4D97-AF65-F5344CB8AC3E}">
        <p14:creationId xmlns:p14="http://schemas.microsoft.com/office/powerpoint/2010/main" val="720595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6E41C-CDCA-3EF7-4DAD-BABDE80070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2129542-6435-7545-007D-B8AD0FAFA4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A5DCA66-4E3E-7192-C427-16413A5460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253D78-09F9-D49A-D0C6-B16A52855D1F}"/>
              </a:ext>
            </a:extLst>
          </p:cNvPr>
          <p:cNvSpPr>
            <a:spLocks noGrp="1"/>
          </p:cNvSpPr>
          <p:nvPr>
            <p:ph type="dt" sz="half" idx="10"/>
          </p:nvPr>
        </p:nvSpPr>
        <p:spPr/>
        <p:txBody>
          <a:bodyPr/>
          <a:lstStyle/>
          <a:p>
            <a:fld id="{3CCC24A0-65AC-4003-8D41-173BFD5D5D1E}" type="datetimeFigureOut">
              <a:rPr lang="en-IN" smtClean="0"/>
              <a:t>23-08-2026</a:t>
            </a:fld>
            <a:endParaRPr lang="en-IN"/>
          </a:p>
        </p:txBody>
      </p:sp>
      <p:sp>
        <p:nvSpPr>
          <p:cNvPr id="6" name="Footer Placeholder 5">
            <a:extLst>
              <a:ext uri="{FF2B5EF4-FFF2-40B4-BE49-F238E27FC236}">
                <a16:creationId xmlns:a16="http://schemas.microsoft.com/office/drawing/2014/main" id="{60031922-E4EA-1600-6D2C-CDF3CA8A68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72FE5A-060F-C64E-A5D7-CA9BBBF56261}"/>
              </a:ext>
            </a:extLst>
          </p:cNvPr>
          <p:cNvSpPr>
            <a:spLocks noGrp="1"/>
          </p:cNvSpPr>
          <p:nvPr>
            <p:ph type="sldNum" sz="quarter" idx="12"/>
          </p:nvPr>
        </p:nvSpPr>
        <p:spPr/>
        <p:txBody>
          <a:bodyPr/>
          <a:lstStyle/>
          <a:p>
            <a:fld id="{1A299886-54E0-410D-A886-EDF6F8A39C87}" type="slidenum">
              <a:rPr lang="en-IN" smtClean="0"/>
              <a:t>‹#›</a:t>
            </a:fld>
            <a:endParaRPr lang="en-IN"/>
          </a:p>
        </p:txBody>
      </p:sp>
    </p:spTree>
    <p:extLst>
      <p:ext uri="{BB962C8B-B14F-4D97-AF65-F5344CB8AC3E}">
        <p14:creationId xmlns:p14="http://schemas.microsoft.com/office/powerpoint/2010/main" val="3144665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2172D-535C-6E6D-18F8-FB685E4F1F6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928862-BE87-C2F5-7651-E355363401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A9788A-EE09-20DD-CA29-13518B43275B}"/>
              </a:ext>
            </a:extLst>
          </p:cNvPr>
          <p:cNvSpPr>
            <a:spLocks noGrp="1"/>
          </p:cNvSpPr>
          <p:nvPr>
            <p:ph type="dt" sz="half" idx="10"/>
          </p:nvPr>
        </p:nvSpPr>
        <p:spPr/>
        <p:txBody>
          <a:bodyPr/>
          <a:lstStyle/>
          <a:p>
            <a:fld id="{3CCC24A0-65AC-4003-8D41-173BFD5D5D1E}" type="datetimeFigureOut">
              <a:rPr lang="en-IN" smtClean="0"/>
              <a:t>23-08-2026</a:t>
            </a:fld>
            <a:endParaRPr lang="en-IN"/>
          </a:p>
        </p:txBody>
      </p:sp>
      <p:sp>
        <p:nvSpPr>
          <p:cNvPr id="5" name="Footer Placeholder 4">
            <a:extLst>
              <a:ext uri="{FF2B5EF4-FFF2-40B4-BE49-F238E27FC236}">
                <a16:creationId xmlns:a16="http://schemas.microsoft.com/office/drawing/2014/main" id="{F4FCE3A4-ADE8-858E-F8B4-213F11A48C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AAB5D3-F06E-7012-B2C3-939BCA64F58E}"/>
              </a:ext>
            </a:extLst>
          </p:cNvPr>
          <p:cNvSpPr>
            <a:spLocks noGrp="1"/>
          </p:cNvSpPr>
          <p:nvPr>
            <p:ph type="sldNum" sz="quarter" idx="12"/>
          </p:nvPr>
        </p:nvSpPr>
        <p:spPr/>
        <p:txBody>
          <a:bodyPr/>
          <a:lstStyle/>
          <a:p>
            <a:fld id="{1A299886-54E0-410D-A886-EDF6F8A39C87}" type="slidenum">
              <a:rPr lang="en-IN" smtClean="0"/>
              <a:t>‹#›</a:t>
            </a:fld>
            <a:endParaRPr lang="en-IN"/>
          </a:p>
        </p:txBody>
      </p:sp>
    </p:spTree>
    <p:extLst>
      <p:ext uri="{BB962C8B-B14F-4D97-AF65-F5344CB8AC3E}">
        <p14:creationId xmlns:p14="http://schemas.microsoft.com/office/powerpoint/2010/main" val="1533437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B89C0D-7B80-8E96-028E-D9D9FA52D5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171446A-7A02-5E32-F3EA-3B380B0D8C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5C7C35-202C-D7EA-299C-08A6CFF55A16}"/>
              </a:ext>
            </a:extLst>
          </p:cNvPr>
          <p:cNvSpPr>
            <a:spLocks noGrp="1"/>
          </p:cNvSpPr>
          <p:nvPr>
            <p:ph type="dt" sz="half" idx="10"/>
          </p:nvPr>
        </p:nvSpPr>
        <p:spPr/>
        <p:txBody>
          <a:bodyPr/>
          <a:lstStyle/>
          <a:p>
            <a:fld id="{3CCC24A0-65AC-4003-8D41-173BFD5D5D1E}" type="datetimeFigureOut">
              <a:rPr lang="en-IN" smtClean="0"/>
              <a:t>23-08-2026</a:t>
            </a:fld>
            <a:endParaRPr lang="en-IN"/>
          </a:p>
        </p:txBody>
      </p:sp>
      <p:sp>
        <p:nvSpPr>
          <p:cNvPr id="5" name="Footer Placeholder 4">
            <a:extLst>
              <a:ext uri="{FF2B5EF4-FFF2-40B4-BE49-F238E27FC236}">
                <a16:creationId xmlns:a16="http://schemas.microsoft.com/office/drawing/2014/main" id="{886911CF-A471-E27C-3D8C-A50F1ABCBC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1C97D5-2A53-5752-4FED-69C969B659B4}"/>
              </a:ext>
            </a:extLst>
          </p:cNvPr>
          <p:cNvSpPr>
            <a:spLocks noGrp="1"/>
          </p:cNvSpPr>
          <p:nvPr>
            <p:ph type="sldNum" sz="quarter" idx="12"/>
          </p:nvPr>
        </p:nvSpPr>
        <p:spPr/>
        <p:txBody>
          <a:bodyPr/>
          <a:lstStyle/>
          <a:p>
            <a:fld id="{1A299886-54E0-410D-A886-EDF6F8A39C87}" type="slidenum">
              <a:rPr lang="en-IN" smtClean="0"/>
              <a:t>‹#›</a:t>
            </a:fld>
            <a:endParaRPr lang="en-IN"/>
          </a:p>
        </p:txBody>
      </p:sp>
    </p:spTree>
    <p:extLst>
      <p:ext uri="{BB962C8B-B14F-4D97-AF65-F5344CB8AC3E}">
        <p14:creationId xmlns:p14="http://schemas.microsoft.com/office/powerpoint/2010/main" val="3002861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261AF13-09E7-4687-BBC2-127642EA173E}" type="datetimeFigureOut">
              <a:rPr lang="en-IN" smtClean="0"/>
              <a:t>23-08-2026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1287B9-E8DD-44BF-A1D2-D42CA877C6AA}" type="slidenum">
              <a:rPr lang="en-IN" smtClean="0"/>
              <a:t>‹#›</a:t>
            </a:fld>
            <a:endParaRPr lang="en-IN"/>
          </a:p>
        </p:txBody>
      </p:sp>
    </p:spTree>
    <p:extLst>
      <p:ext uri="{BB962C8B-B14F-4D97-AF65-F5344CB8AC3E}">
        <p14:creationId xmlns:p14="http://schemas.microsoft.com/office/powerpoint/2010/main" val="659812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261AF13-09E7-4687-BBC2-127642EA173E}" type="datetimeFigureOut">
              <a:rPr lang="en-IN" smtClean="0"/>
              <a:t>23-08-2026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1287B9-E8DD-44BF-A1D2-D42CA877C6AA}" type="slidenum">
              <a:rPr lang="en-IN" smtClean="0"/>
              <a:t>‹#›</a:t>
            </a:fld>
            <a:endParaRPr lang="en-IN"/>
          </a:p>
        </p:txBody>
      </p:sp>
    </p:spTree>
    <p:extLst>
      <p:ext uri="{BB962C8B-B14F-4D97-AF65-F5344CB8AC3E}">
        <p14:creationId xmlns:p14="http://schemas.microsoft.com/office/powerpoint/2010/main" val="9098478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61AF13-09E7-4687-BBC2-127642EA173E}" type="datetimeFigureOut">
              <a:rPr lang="en-IN" smtClean="0"/>
              <a:t>23-08-2026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1287B9-E8DD-44BF-A1D2-D42CA877C6AA}" type="slidenum">
              <a:rPr lang="en-IN" smtClean="0"/>
              <a:t>‹#›</a:t>
            </a:fld>
            <a:endParaRPr lang="en-IN"/>
          </a:p>
        </p:txBody>
      </p:sp>
    </p:spTree>
    <p:extLst>
      <p:ext uri="{BB962C8B-B14F-4D97-AF65-F5344CB8AC3E}">
        <p14:creationId xmlns:p14="http://schemas.microsoft.com/office/powerpoint/2010/main" val="27217730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261AF13-09E7-4687-BBC2-127642EA173E}" type="datetimeFigureOut">
              <a:rPr lang="en-IN" smtClean="0"/>
              <a:t>23-08-2026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1287B9-E8DD-44BF-A1D2-D42CA877C6AA}" type="slidenum">
              <a:rPr lang="en-IN" smtClean="0"/>
              <a:t>‹#›</a:t>
            </a:fld>
            <a:endParaRPr lang="en-IN"/>
          </a:p>
        </p:txBody>
      </p:sp>
    </p:spTree>
    <p:extLst>
      <p:ext uri="{BB962C8B-B14F-4D97-AF65-F5344CB8AC3E}">
        <p14:creationId xmlns:p14="http://schemas.microsoft.com/office/powerpoint/2010/main" val="21479542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261AF13-09E7-4687-BBC2-127642EA173E}" type="datetimeFigureOut">
              <a:rPr lang="en-IN" smtClean="0"/>
              <a:t>23-08-2026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41287B9-E8DD-44BF-A1D2-D42CA877C6AA}" type="slidenum">
              <a:rPr lang="en-IN" smtClean="0"/>
              <a:t>‹#›</a:t>
            </a:fld>
            <a:endParaRPr lang="en-IN"/>
          </a:p>
        </p:txBody>
      </p:sp>
    </p:spTree>
    <p:extLst>
      <p:ext uri="{BB962C8B-B14F-4D97-AF65-F5344CB8AC3E}">
        <p14:creationId xmlns:p14="http://schemas.microsoft.com/office/powerpoint/2010/main" val="22661484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261AF13-09E7-4687-BBC2-127642EA173E}" type="datetimeFigureOut">
              <a:rPr lang="en-IN" smtClean="0"/>
              <a:t>23-08-2026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41287B9-E8DD-44BF-A1D2-D42CA877C6AA}" type="slidenum">
              <a:rPr lang="en-IN" smtClean="0"/>
              <a:t>‹#›</a:t>
            </a:fld>
            <a:endParaRPr lang="en-IN"/>
          </a:p>
        </p:txBody>
      </p:sp>
    </p:spTree>
    <p:extLst>
      <p:ext uri="{BB962C8B-B14F-4D97-AF65-F5344CB8AC3E}">
        <p14:creationId xmlns:p14="http://schemas.microsoft.com/office/powerpoint/2010/main" val="32986095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61AF13-09E7-4687-BBC2-127642EA173E}" type="datetimeFigureOut">
              <a:rPr lang="en-IN" smtClean="0"/>
              <a:t>23-08-2026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41287B9-E8DD-44BF-A1D2-D42CA877C6AA}" type="slidenum">
              <a:rPr lang="en-IN" smtClean="0"/>
              <a:t>‹#›</a:t>
            </a:fld>
            <a:endParaRPr lang="en-IN"/>
          </a:p>
        </p:txBody>
      </p:sp>
    </p:spTree>
    <p:extLst>
      <p:ext uri="{BB962C8B-B14F-4D97-AF65-F5344CB8AC3E}">
        <p14:creationId xmlns:p14="http://schemas.microsoft.com/office/powerpoint/2010/main" val="2405952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261AF13-09E7-4687-BBC2-127642EA173E}" type="datetimeFigureOut">
              <a:rPr lang="en-IN" smtClean="0"/>
              <a:t>23-08-2026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1287B9-E8DD-44BF-A1D2-D42CA877C6AA}" type="slidenum">
              <a:rPr lang="en-IN" smtClean="0"/>
              <a:t>‹#›</a:t>
            </a:fld>
            <a:endParaRPr lang="en-IN"/>
          </a:p>
        </p:txBody>
      </p:sp>
    </p:spTree>
    <p:extLst>
      <p:ext uri="{BB962C8B-B14F-4D97-AF65-F5344CB8AC3E}">
        <p14:creationId xmlns:p14="http://schemas.microsoft.com/office/powerpoint/2010/main" val="27112539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261AF13-09E7-4687-BBC2-127642EA173E}" type="datetimeFigureOut">
              <a:rPr lang="en-IN" smtClean="0"/>
              <a:t>23-08-2026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1287B9-E8DD-44BF-A1D2-D42CA877C6AA}" type="slidenum">
              <a:rPr lang="en-IN" smtClean="0"/>
              <a:t>‹#›</a:t>
            </a:fld>
            <a:endParaRPr lang="en-IN"/>
          </a:p>
        </p:txBody>
      </p:sp>
    </p:spTree>
    <p:extLst>
      <p:ext uri="{BB962C8B-B14F-4D97-AF65-F5344CB8AC3E}">
        <p14:creationId xmlns:p14="http://schemas.microsoft.com/office/powerpoint/2010/main" val="32065659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261AF13-09E7-4687-BBC2-127642EA173E}" type="datetimeFigureOut">
              <a:rPr lang="en-IN" smtClean="0"/>
              <a:t>23-08-2026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1287B9-E8DD-44BF-A1D2-D42CA877C6AA}" type="slidenum">
              <a:rPr lang="en-IN" smtClean="0"/>
              <a:t>‹#›</a:t>
            </a:fld>
            <a:endParaRPr lang="en-IN"/>
          </a:p>
        </p:txBody>
      </p:sp>
    </p:spTree>
    <p:extLst>
      <p:ext uri="{BB962C8B-B14F-4D97-AF65-F5344CB8AC3E}">
        <p14:creationId xmlns:p14="http://schemas.microsoft.com/office/powerpoint/2010/main" val="26613421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261AF13-09E7-4687-BBC2-127642EA173E}" type="datetimeFigureOut">
              <a:rPr lang="en-IN" smtClean="0"/>
              <a:t>23-08-2026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1287B9-E8DD-44BF-A1D2-D42CA877C6AA}" type="slidenum">
              <a:rPr lang="en-IN" smtClean="0"/>
              <a:t>‹#›</a:t>
            </a:fld>
            <a:endParaRPr lang="en-IN"/>
          </a:p>
        </p:txBody>
      </p:sp>
    </p:spTree>
    <p:extLst>
      <p:ext uri="{BB962C8B-B14F-4D97-AF65-F5344CB8AC3E}">
        <p14:creationId xmlns:p14="http://schemas.microsoft.com/office/powerpoint/2010/main" val="12384571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600200"/>
            <a:ext cx="53848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97600" y="1600200"/>
            <a:ext cx="53848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EE9BAAD-5D24-481F-865C-E57AF52F8FDC}" type="slidenum">
              <a:rPr lang="en-US"/>
              <a:pPr>
                <a:defRPr/>
              </a:pPr>
              <a:t>‹#›</a:t>
            </a:fld>
            <a:endParaRPr lang="en-US"/>
          </a:p>
        </p:txBody>
      </p:sp>
    </p:spTree>
    <p:extLst>
      <p:ext uri="{BB962C8B-B14F-4D97-AF65-F5344CB8AC3E}">
        <p14:creationId xmlns:p14="http://schemas.microsoft.com/office/powerpoint/2010/main" val="3781010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660917-CD4D-40EF-7B98-5CED518FBC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D9C1E1-86E7-0BAE-6E6C-E8502D5C34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1A2A4C-A49F-7053-82B1-442C59E18E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CC24A0-65AC-4003-8D41-173BFD5D5D1E}" type="datetimeFigureOut">
              <a:rPr lang="en-IN" smtClean="0"/>
              <a:t>23-08-2026</a:t>
            </a:fld>
            <a:endParaRPr lang="en-IN"/>
          </a:p>
        </p:txBody>
      </p:sp>
      <p:sp>
        <p:nvSpPr>
          <p:cNvPr id="5" name="Footer Placeholder 4">
            <a:extLst>
              <a:ext uri="{FF2B5EF4-FFF2-40B4-BE49-F238E27FC236}">
                <a16:creationId xmlns:a16="http://schemas.microsoft.com/office/drawing/2014/main" id="{AEAB1B5A-8651-55DE-5073-1EF8274032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C9AF9DA-77FE-D0FC-9723-C4871D7350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299886-54E0-410D-A886-EDF6F8A39C87}" type="slidenum">
              <a:rPr lang="en-IN" smtClean="0"/>
              <a:t>‹#›</a:t>
            </a:fld>
            <a:endParaRPr lang="en-IN"/>
          </a:p>
        </p:txBody>
      </p:sp>
    </p:spTree>
    <p:extLst>
      <p:ext uri="{BB962C8B-B14F-4D97-AF65-F5344CB8AC3E}">
        <p14:creationId xmlns:p14="http://schemas.microsoft.com/office/powerpoint/2010/main" val="19798819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61AF13-09E7-4687-BBC2-127642EA173E}" type="datetimeFigureOut">
              <a:rPr lang="en-IN" smtClean="0"/>
              <a:t>23-08-2026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1287B9-E8DD-44BF-A1D2-D42CA877C6AA}" type="slidenum">
              <a:rPr lang="en-IN" smtClean="0"/>
              <a:t>‹#›</a:t>
            </a:fld>
            <a:endParaRPr lang="en-IN"/>
          </a:p>
        </p:txBody>
      </p:sp>
    </p:spTree>
    <p:extLst>
      <p:ext uri="{BB962C8B-B14F-4D97-AF65-F5344CB8AC3E}">
        <p14:creationId xmlns:p14="http://schemas.microsoft.com/office/powerpoint/2010/main" val="24011121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35200"/>
            <a:ext cx="9144000" cy="2387600"/>
          </a:xfrm>
          <a:solidFill>
            <a:schemeClr val="bg2">
              <a:lumMod val="75000"/>
            </a:schemeClr>
          </a:solidFill>
        </p:spPr>
        <p:style>
          <a:lnRef idx="3">
            <a:schemeClr val="lt1"/>
          </a:lnRef>
          <a:fillRef idx="1">
            <a:schemeClr val="accent2"/>
          </a:fillRef>
          <a:effectRef idx="1">
            <a:schemeClr val="accent2"/>
          </a:effectRef>
          <a:fontRef idx="minor">
            <a:schemeClr val="lt1"/>
          </a:fontRef>
        </p:style>
        <p:txBody>
          <a:bodyPr/>
          <a:lstStyle/>
          <a:p>
            <a:r>
              <a:rPr lang="en-US" dirty="0">
                <a:solidFill>
                  <a:schemeClr val="tx1">
                    <a:lumMod val="95000"/>
                    <a:lumOff val="5000"/>
                  </a:schemeClr>
                </a:solidFill>
              </a:rPr>
              <a:t>Software Development Process</a:t>
            </a:r>
          </a:p>
        </p:txBody>
      </p:sp>
    </p:spTree>
    <p:extLst>
      <p:ext uri="{BB962C8B-B14F-4D97-AF65-F5344CB8AC3E}">
        <p14:creationId xmlns:p14="http://schemas.microsoft.com/office/powerpoint/2010/main" val="95195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2677656"/>
          </a:xfrm>
          <a:prstGeom prst="rect">
            <a:avLst/>
          </a:prstGeom>
          <a:solidFill>
            <a:schemeClr val="bg1">
              <a:lumMod val="85000"/>
            </a:schemeClr>
          </a:solidFill>
          <a:ln>
            <a:noFill/>
          </a:ln>
          <a:effectLst>
            <a:glow rad="228600">
              <a:schemeClr val="accent4">
                <a:satMod val="175000"/>
                <a:alpha val="40000"/>
              </a:schemeClr>
            </a:glow>
          </a:effectLst>
        </p:spPr>
        <p:style>
          <a:lnRef idx="1">
            <a:schemeClr val="accent4"/>
          </a:lnRef>
          <a:fillRef idx="2">
            <a:schemeClr val="accent4"/>
          </a:fillRef>
          <a:effectRef idx="1">
            <a:schemeClr val="accent4"/>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What is software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Software is a set of instructions, data or programs used to operate computers and execute specific tasks. It is the opposite of hardware, which describes the physical aspects of a computer. Software is a generic term used to refer to applications, scripts and programs that run on a device.</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Rectangle 6"/>
          <p:cNvSpPr/>
          <p:nvPr/>
        </p:nvSpPr>
        <p:spPr>
          <a:xfrm>
            <a:off x="0" y="2677656"/>
            <a:ext cx="12192000" cy="4154984"/>
          </a:xfrm>
          <a:prstGeom prst="rect">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What is Software Engineering?</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base" latinLnBrk="0" hangingPunct="1">
              <a:lnSpc>
                <a:spcPct val="100000"/>
              </a:lnSpc>
              <a:spcBef>
                <a:spcPts val="0"/>
              </a:spcBef>
              <a:spcAft>
                <a:spcPts val="0"/>
              </a:spcAft>
              <a:buClrTx/>
              <a:buSzTx/>
              <a:buFont typeface="Arial" pitchFamily="34" charset="0"/>
              <a:buChar char="•"/>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Software Engineering</a:t>
            </a:r>
            <a:r>
              <a:rPr kumimoji="0" lang="en-US" sz="2400" b="0" i="0" u="none" strike="noStrike" kern="1200" cap="none" spc="0" normalizeH="0" baseline="0" noProof="0" dirty="0">
                <a:ln>
                  <a:noFill/>
                </a:ln>
                <a:solidFill>
                  <a:prstClr val="black"/>
                </a:solidFill>
                <a:effectLst/>
                <a:uLnTx/>
                <a:uFillTx/>
                <a:latin typeface="Calibri"/>
                <a:ea typeface="+mn-ea"/>
                <a:cs typeface="+mn-cs"/>
              </a:rPr>
              <a:t> is the process of designing, developing, testing, and maintaining software. It is a systematic and disciplined approach to software development that aims to create high-quality, reliable, and maintainable software.</a:t>
            </a:r>
          </a:p>
          <a:p>
            <a:pPr marL="285750" marR="0" lvl="0" indent="-285750" algn="l" defTabSz="914400" rtl="0" eaLnBrk="1" fontAlgn="base" latinLnBrk="0" hangingPunct="1">
              <a:lnSpc>
                <a:spcPct val="100000"/>
              </a:lnSpc>
              <a:spcBef>
                <a:spcPts val="0"/>
              </a:spcBef>
              <a:spcAft>
                <a:spcPts val="0"/>
              </a:spcAft>
              <a:buClrTx/>
              <a:buSzTx/>
              <a:buFont typeface="Arial"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base" latinLnBrk="0" hangingPunct="1">
              <a:lnSpc>
                <a:spcPct val="100000"/>
              </a:lnSpc>
              <a:spcBef>
                <a:spcPts val="0"/>
              </a:spcBef>
              <a:spcAft>
                <a:spcPts val="0"/>
              </a:spcAft>
              <a:buClrTx/>
              <a:buSzTx/>
              <a:buFont typeface="Arial"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The main goal of Software Engineering is to develop software applications for improving quality,  budget, and time efficiency.</a:t>
            </a:r>
          </a:p>
          <a:p>
            <a:pPr marL="285750" marR="0" lvl="0" indent="-285750" algn="l" defTabSz="914400" rtl="0" eaLnBrk="1" fontAlgn="base" latinLnBrk="0" hangingPunct="1">
              <a:lnSpc>
                <a:spcPct val="100000"/>
              </a:lnSpc>
              <a:spcBef>
                <a:spcPts val="0"/>
              </a:spcBef>
              <a:spcAft>
                <a:spcPts val="0"/>
              </a:spcAft>
              <a:buClrTx/>
              <a:buSzTx/>
              <a:buFont typeface="Arial"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Software engineering includes a variety of techniques, tools, and methodologies, including requirements analysis, design, testing, and maintenance.</a:t>
            </a:r>
          </a:p>
          <a:p>
            <a:pPr marL="285750" marR="0" lvl="0" indent="-285750" algn="l" defTabSz="914400" rtl="0" eaLnBrk="1" fontAlgn="base" latinLnBrk="0" hangingPunct="1">
              <a:lnSpc>
                <a:spcPct val="100000"/>
              </a:lnSpc>
              <a:spcBef>
                <a:spcPts val="0"/>
              </a:spcBef>
              <a:spcAft>
                <a:spcPts val="0"/>
              </a:spcAft>
              <a:buClrTx/>
              <a:buSzTx/>
              <a:buFont typeface="Arial"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33338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AutoShape 2" descr="Software Characteristics – Software Engineering | GeeksforGeek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Rectangle 5"/>
          <p:cNvSpPr/>
          <p:nvPr/>
        </p:nvSpPr>
        <p:spPr>
          <a:xfrm>
            <a:off x="1" y="21916"/>
            <a:ext cx="12153134" cy="6678751"/>
          </a:xfrm>
          <a:prstGeom prst="rect">
            <a:avLst/>
          </a:prstGeom>
          <a:solidFill>
            <a:schemeClr val="bg1">
              <a:lumMod val="95000"/>
            </a:schemeClr>
          </a:solid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800" b="1" i="0" u="sng" strike="noStrike" kern="1200" cap="none" spc="0" normalizeH="0" baseline="0" noProof="0" dirty="0">
                <a:ln>
                  <a:noFill/>
                </a:ln>
                <a:solidFill>
                  <a:srgbClr val="7030A0"/>
                </a:solidFill>
                <a:effectLst/>
                <a:uLnTx/>
                <a:uFillTx/>
                <a:latin typeface="Calibri"/>
                <a:ea typeface="+mn-ea"/>
                <a:cs typeface="+mn-cs"/>
              </a:rPr>
              <a:t>Characteristics of  Software  in Software Engineering :</a:t>
            </a:r>
            <a:endParaRPr kumimoji="0" lang="en-US" sz="2000" b="1" i="0" u="none" strike="noStrike" kern="1200" cap="none" spc="0" normalizeH="0" baseline="0" noProof="0" dirty="0">
              <a:ln>
                <a:noFill/>
              </a:ln>
              <a:solidFill>
                <a:srgbClr val="7030A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C00000"/>
                </a:solidFill>
                <a:effectLst/>
                <a:uLnTx/>
                <a:uFillTx/>
                <a:latin typeface="Calibri"/>
                <a:ea typeface="+mn-ea"/>
                <a:cs typeface="+mn-cs"/>
              </a:rPr>
              <a:t>1] Software is developed or engineered: it is not manufactured in the classical sense: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400" b="1" i="0" u="none" strike="noStrike" kern="1200" cap="none" spc="0" normalizeH="0" baseline="0" noProof="0" dirty="0">
                <a:ln>
                  <a:noFill/>
                </a:ln>
                <a:solidFill>
                  <a:srgbClr val="00349E">
                    <a:lumMod val="50000"/>
                  </a:srgbClr>
                </a:solidFill>
                <a:effectLst/>
                <a:uLnTx/>
                <a:uFillTx/>
                <a:latin typeface="Calibri"/>
                <a:ea typeface="+mn-ea"/>
                <a:cs typeface="+mn-cs"/>
              </a:rPr>
              <a:t>Software, however, is an intangible product(Software is intangible because it does not have a physical form like a chair, phone, or book.). </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2400" b="1" i="0" u="none" strike="noStrike" kern="1200" cap="none" spc="0" normalizeH="0" baseline="0" noProof="0" dirty="0">
              <a:ln>
                <a:noFill/>
              </a:ln>
              <a:solidFill>
                <a:srgbClr val="00349E">
                  <a:lumMod val="50000"/>
                </a:srgbClr>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400" b="1" i="0" u="none" strike="noStrike" kern="1200" cap="none" spc="0" normalizeH="0" baseline="0" noProof="0" dirty="0">
                <a:ln>
                  <a:noFill/>
                </a:ln>
                <a:solidFill>
                  <a:srgbClr val="00349E">
                    <a:lumMod val="50000"/>
                  </a:srgbClr>
                </a:solidFill>
                <a:effectLst/>
                <a:uLnTx/>
                <a:uFillTx/>
                <a:latin typeface="Calibri"/>
                <a:ea typeface="+mn-ea"/>
                <a:cs typeface="+mn-cs"/>
              </a:rPr>
              <a:t>It is created by software engineers through designing, coding, testing, and debugging. </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2400" b="1" i="0" u="none" strike="noStrike" kern="1200" cap="none" spc="0" normalizeH="0" baseline="0" noProof="0" dirty="0">
              <a:ln>
                <a:noFill/>
              </a:ln>
              <a:solidFill>
                <a:srgbClr val="00349E">
                  <a:lumMod val="50000"/>
                </a:srgbClr>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400" b="1" i="0" u="none" strike="noStrike" kern="1200" cap="none" spc="0" normalizeH="0" baseline="0" noProof="0" dirty="0">
                <a:ln>
                  <a:noFill/>
                </a:ln>
                <a:solidFill>
                  <a:srgbClr val="00349E">
                    <a:lumMod val="50000"/>
                  </a:srgbClr>
                </a:solidFill>
                <a:effectLst/>
                <a:uLnTx/>
                <a:uFillTx/>
                <a:latin typeface="Calibri"/>
                <a:ea typeface="+mn-ea"/>
                <a:cs typeface="+mn-cs"/>
              </a:rPr>
              <a:t>This process is more about intellectual and creative work rather than physical production.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srgbClr val="00349E">
                  <a:lumMod val="50000"/>
                </a:srgbClr>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400" b="1" i="0" u="none" strike="noStrike" kern="1200" cap="none" spc="0" normalizeH="0" baseline="0" noProof="0" dirty="0">
                <a:ln>
                  <a:noFill/>
                </a:ln>
                <a:solidFill>
                  <a:srgbClr val="00349E">
                    <a:lumMod val="50000"/>
                  </a:srgbClr>
                </a:solidFill>
                <a:effectLst/>
                <a:uLnTx/>
                <a:uFillTx/>
                <a:latin typeface="Calibri"/>
                <a:ea typeface="+mn-ea"/>
                <a:cs typeface="+mn-cs"/>
              </a:rPr>
              <a:t>Once developed, software can be copied, installed, or distributed without additional manufacturing effort or cost.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349E">
                    <a:lumMod val="50000"/>
                  </a:srgbClr>
                </a:solidFill>
                <a:effectLst/>
                <a:uLnTx/>
                <a:uFillTx/>
                <a:latin typeface="Calibri"/>
                <a:ea typeface="+mn-ea"/>
                <a:cs typeface="+mn-cs"/>
              </a:rPr>
              <a:t>      Therefore, the creation of software is referred to as development or engineering, not manufacturing.</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88936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971139"/>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C00000"/>
                </a:solidFill>
                <a:effectLst/>
                <a:uLnTx/>
                <a:uFillTx/>
                <a:latin typeface="Calibri"/>
                <a:ea typeface="+mn-ea"/>
                <a:cs typeface="+mn-cs"/>
              </a:rPr>
              <a:t>2] The software doesn’t “wear out”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100" b="1" i="0" u="none" strike="noStrike" kern="1200" cap="none" spc="0" normalizeH="0" baseline="0" noProof="0" dirty="0">
                <a:ln>
                  <a:noFill/>
                </a:ln>
                <a:solidFill>
                  <a:srgbClr val="E40059">
                    <a:lumMod val="50000"/>
                  </a:srgbClr>
                </a:solidFill>
                <a:effectLst/>
                <a:uLnTx/>
                <a:uFillTx/>
                <a:latin typeface="Calibri"/>
                <a:ea typeface="+mn-ea"/>
                <a:cs typeface="+mn-cs"/>
              </a:rPr>
              <a:t>In the case of software: Software is made of code and digital instructions, not physical components.</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2100" b="1" i="0" u="none" strike="noStrike" kern="1200" cap="none" spc="0" normalizeH="0" baseline="0" noProof="0" dirty="0">
              <a:ln>
                <a:noFill/>
              </a:ln>
              <a:solidFill>
                <a:srgbClr val="E40059">
                  <a:lumMod val="50000"/>
                </a:srgbClr>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100" b="1" i="0" u="none" strike="noStrike" kern="1200" cap="none" spc="0" normalizeH="0" baseline="0" noProof="0" dirty="0">
                <a:ln>
                  <a:noFill/>
                </a:ln>
                <a:solidFill>
                  <a:srgbClr val="E40059">
                    <a:lumMod val="50000"/>
                  </a:srgbClr>
                </a:solidFill>
                <a:effectLst/>
                <a:uLnTx/>
                <a:uFillTx/>
                <a:latin typeface="Calibri"/>
                <a:ea typeface="+mn-ea"/>
                <a:cs typeface="+mn-cs"/>
              </a:rPr>
              <a:t>It does not wear out with use—running a program 100 or 1,000 times doesn’t damage it .</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2100" b="1" i="0" u="none" strike="noStrike" kern="1200" cap="none" spc="0" normalizeH="0" baseline="0" noProof="0" dirty="0">
              <a:ln>
                <a:noFill/>
              </a:ln>
              <a:solidFill>
                <a:srgbClr val="E40059">
                  <a:lumMod val="50000"/>
                </a:srgbClr>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100" b="1" i="0" u="none" strike="noStrike" kern="1200" cap="none" spc="0" normalizeH="0" baseline="0" noProof="0" dirty="0">
                <a:ln>
                  <a:noFill/>
                </a:ln>
                <a:solidFill>
                  <a:srgbClr val="E40059">
                    <a:lumMod val="50000"/>
                  </a:srgbClr>
                </a:solidFill>
                <a:effectLst/>
                <a:uLnTx/>
                <a:uFillTx/>
                <a:latin typeface="Calibri"/>
                <a:ea typeface="+mn-ea"/>
                <a:cs typeface="+mn-cs"/>
              </a:rPr>
              <a:t>In the physical world, things like machines,  or batteries wear out because they have moving parts or materials that degrade over time due to repeated use.</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2100" b="1" i="0" u="none" strike="noStrike" kern="1200" cap="none" spc="0" normalizeH="0" baseline="0" noProof="0" dirty="0">
              <a:ln>
                <a:noFill/>
              </a:ln>
              <a:solidFill>
                <a:srgbClr val="E40059">
                  <a:lumMod val="50000"/>
                </a:srgbClr>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100" b="1" i="0" u="none" strike="noStrike" kern="1200" cap="none" spc="0" normalizeH="0" baseline="0" noProof="0" dirty="0">
                <a:ln>
                  <a:noFill/>
                </a:ln>
                <a:solidFill>
                  <a:srgbClr val="E40059">
                    <a:lumMod val="50000"/>
                  </a:srgbClr>
                </a:solidFill>
                <a:effectLst/>
                <a:uLnTx/>
                <a:uFillTx/>
                <a:latin typeface="Calibri"/>
                <a:ea typeface="+mn-ea"/>
                <a:cs typeface="+mn-cs"/>
              </a:rPr>
              <a:t>software won’t stop working just because it's been used many times.</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2100" b="1" i="0" u="none" strike="noStrike" kern="1200" cap="none" spc="0" normalizeH="0" baseline="0" noProof="0" dirty="0">
              <a:ln>
                <a:noFill/>
              </a:ln>
              <a:solidFill>
                <a:srgbClr val="E40059">
                  <a:lumMod val="50000"/>
                </a:srgbClr>
              </a:solidFill>
              <a:effectLst/>
              <a:uLnTx/>
              <a:uFillTx/>
              <a:latin typeface="Calibri"/>
              <a:ea typeface="+mn-ea"/>
              <a:cs typeface="+mn-cs"/>
            </a:endParaRPr>
          </a:p>
          <a:p>
            <a:pPr marL="285750" marR="0" lvl="0" indent="-285750" algn="l" defTabSz="914400" rtl="0" eaLnBrk="1" fontAlgn="base" latinLnBrk="0" hangingPunct="1">
              <a:lnSpc>
                <a:spcPct val="100000"/>
              </a:lnSpc>
              <a:spcBef>
                <a:spcPts val="0"/>
              </a:spcBef>
              <a:spcAft>
                <a:spcPts val="0"/>
              </a:spcAft>
              <a:buClrTx/>
              <a:buSzTx/>
              <a:buFont typeface="Arial" pitchFamily="34" charset="0"/>
              <a:buChar char="•"/>
              <a:tabLst/>
              <a:defRPr/>
            </a:pPr>
            <a:r>
              <a:rPr kumimoji="0" lang="en-US" sz="2100" b="1" i="0" u="none" strike="noStrike" kern="1200" cap="none" spc="0" normalizeH="0" baseline="0" noProof="0" dirty="0">
                <a:ln>
                  <a:noFill/>
                </a:ln>
                <a:solidFill>
                  <a:srgbClr val="E40059">
                    <a:lumMod val="50000"/>
                  </a:srgbClr>
                </a:solidFill>
                <a:effectLst/>
                <a:uLnTx/>
                <a:uFillTx/>
                <a:latin typeface="Calibri"/>
                <a:ea typeface="+mn-ea"/>
                <a:cs typeface="+mn-cs"/>
              </a:rPr>
              <a:t>When a hardware component wears out, it is replaced by a spare part, There are no software spare parts.</a:t>
            </a:r>
          </a:p>
          <a:p>
            <a:pPr marL="285750" marR="0" lvl="0" indent="-285750" algn="l" defTabSz="914400" rtl="0" eaLnBrk="1" fontAlgn="base" latinLnBrk="0" hangingPunct="1">
              <a:lnSpc>
                <a:spcPct val="100000"/>
              </a:lnSpc>
              <a:spcBef>
                <a:spcPts val="0"/>
              </a:spcBef>
              <a:spcAft>
                <a:spcPts val="0"/>
              </a:spcAft>
              <a:buClrTx/>
              <a:buSzTx/>
              <a:buFont typeface="Arial" pitchFamily="34" charset="0"/>
              <a:buChar char="•"/>
              <a:tabLst/>
              <a:defRPr/>
            </a:pPr>
            <a:endParaRPr kumimoji="0" lang="en-US" sz="2100" b="1" i="0" u="none" strike="noStrike" kern="1200" cap="none" spc="0" normalizeH="0" baseline="0" noProof="0" dirty="0">
              <a:ln>
                <a:noFill/>
              </a:ln>
              <a:solidFill>
                <a:srgbClr val="E40059">
                  <a:lumMod val="50000"/>
                </a:srgbClr>
              </a:solidFill>
              <a:effectLst/>
              <a:uLnTx/>
              <a:uFillTx/>
              <a:latin typeface="Calibri"/>
              <a:ea typeface="+mn-ea"/>
              <a:cs typeface="+mn-cs"/>
            </a:endParaRPr>
          </a:p>
          <a:p>
            <a:pPr marL="285750" marR="0" lvl="0" indent="-285750" algn="l" defTabSz="914400" rtl="0" eaLnBrk="1" fontAlgn="base" latinLnBrk="0" hangingPunct="1">
              <a:lnSpc>
                <a:spcPct val="100000"/>
              </a:lnSpc>
              <a:spcBef>
                <a:spcPts val="0"/>
              </a:spcBef>
              <a:spcAft>
                <a:spcPts val="0"/>
              </a:spcAft>
              <a:buClrTx/>
              <a:buSzTx/>
              <a:buFont typeface="Arial" pitchFamily="34" charset="0"/>
              <a:buChar char="•"/>
              <a:tabLst/>
              <a:defRPr/>
            </a:pPr>
            <a:r>
              <a:rPr kumimoji="0" lang="en-US" sz="2100" b="1" i="0" u="none" strike="noStrike" kern="1200" cap="none" spc="0" normalizeH="0" baseline="0" noProof="0" dirty="0">
                <a:ln>
                  <a:noFill/>
                </a:ln>
                <a:solidFill>
                  <a:srgbClr val="E40059">
                    <a:lumMod val="50000"/>
                  </a:srgbClr>
                </a:solidFill>
                <a:effectLst/>
                <a:uLnTx/>
                <a:uFillTx/>
                <a:latin typeface="Calibri"/>
                <a:ea typeface="+mn-ea"/>
                <a:cs typeface="+mn-cs"/>
              </a:rPr>
              <a:t>Every software failure indicates an error in design or in the process through which the design was translated into machine-executable code. </a:t>
            </a:r>
          </a:p>
          <a:p>
            <a:pPr marL="285750" marR="0" lvl="0" indent="-285750" algn="l" defTabSz="914400" rtl="0" eaLnBrk="1" fontAlgn="base" latinLnBrk="0" hangingPunct="1">
              <a:lnSpc>
                <a:spcPct val="100000"/>
              </a:lnSpc>
              <a:spcBef>
                <a:spcPts val="0"/>
              </a:spcBef>
              <a:spcAft>
                <a:spcPts val="0"/>
              </a:spcAft>
              <a:buClrTx/>
              <a:buSzTx/>
              <a:buFont typeface="Arial" pitchFamily="34" charset="0"/>
              <a:buChar char="•"/>
              <a:tabLst/>
              <a:defRPr/>
            </a:pPr>
            <a:endParaRPr kumimoji="0" lang="en-US" sz="2100" b="1" i="0" u="none" strike="noStrike" kern="1200" cap="none" spc="0" normalizeH="0" baseline="0" noProof="0" dirty="0">
              <a:ln>
                <a:noFill/>
              </a:ln>
              <a:solidFill>
                <a:srgbClr val="E40059">
                  <a:lumMod val="50000"/>
                </a:srgbClr>
              </a:solidFill>
              <a:effectLst/>
              <a:uLnTx/>
              <a:uFillTx/>
              <a:latin typeface="Calibri"/>
              <a:ea typeface="+mn-ea"/>
              <a:cs typeface="+mn-cs"/>
            </a:endParaRPr>
          </a:p>
          <a:p>
            <a:pPr marL="285750" marR="0" lvl="0" indent="-285750" algn="l" defTabSz="914400" rtl="0" eaLnBrk="1" fontAlgn="base" latinLnBrk="0" hangingPunct="1">
              <a:lnSpc>
                <a:spcPct val="100000"/>
              </a:lnSpc>
              <a:spcBef>
                <a:spcPts val="0"/>
              </a:spcBef>
              <a:spcAft>
                <a:spcPts val="0"/>
              </a:spcAft>
              <a:buClrTx/>
              <a:buSzTx/>
              <a:buFont typeface="Arial" pitchFamily="34" charset="0"/>
              <a:buChar char="•"/>
              <a:tabLst/>
              <a:defRPr/>
            </a:pPr>
            <a:r>
              <a:rPr kumimoji="0" lang="en-US" sz="2100" b="1" i="0" u="none" strike="noStrike" kern="1200" cap="none" spc="0" normalizeH="0" baseline="0" noProof="0" dirty="0">
                <a:ln>
                  <a:noFill/>
                </a:ln>
                <a:solidFill>
                  <a:srgbClr val="E40059">
                    <a:lumMod val="50000"/>
                  </a:srgbClr>
                </a:solidFill>
                <a:effectLst/>
                <a:uLnTx/>
                <a:uFillTx/>
                <a:latin typeface="Calibri"/>
                <a:ea typeface="+mn-ea"/>
                <a:cs typeface="+mn-cs"/>
              </a:rPr>
              <a:t>Hardware wears out physically; software does not.</a:t>
            </a:r>
          </a:p>
          <a:p>
            <a:pPr marL="285750" marR="0" lvl="0" indent="-285750" algn="l" defTabSz="914400" rtl="0" eaLnBrk="1" fontAlgn="base" latinLnBrk="0" hangingPunct="1">
              <a:lnSpc>
                <a:spcPct val="100000"/>
              </a:lnSpc>
              <a:spcBef>
                <a:spcPts val="0"/>
              </a:spcBef>
              <a:spcAft>
                <a:spcPts val="0"/>
              </a:spcAft>
              <a:buClrTx/>
              <a:buSzTx/>
              <a:buFont typeface="Arial" pitchFamily="34" charset="0"/>
              <a:buChar char="•"/>
              <a:tabLst/>
              <a:defRPr/>
            </a:pPr>
            <a:endParaRPr kumimoji="0" lang="en-US" sz="2100" b="1" i="0" u="none" strike="noStrike" kern="1200" cap="none" spc="0" normalizeH="0" baseline="0" noProof="0" dirty="0">
              <a:ln>
                <a:noFill/>
              </a:ln>
              <a:solidFill>
                <a:srgbClr val="E40059">
                  <a:lumMod val="50000"/>
                </a:srgbClr>
              </a:solidFill>
              <a:effectLst/>
              <a:uLnTx/>
              <a:uFillTx/>
              <a:latin typeface="Calibri"/>
              <a:ea typeface="+mn-ea"/>
              <a:cs typeface="+mn-cs"/>
            </a:endParaRPr>
          </a:p>
          <a:p>
            <a:pPr marL="285750" marR="0" lvl="0" indent="-285750" algn="l" defTabSz="914400" rtl="0" eaLnBrk="1" fontAlgn="base" latinLnBrk="0" hangingPunct="1">
              <a:lnSpc>
                <a:spcPct val="100000"/>
              </a:lnSpc>
              <a:spcBef>
                <a:spcPts val="0"/>
              </a:spcBef>
              <a:spcAft>
                <a:spcPts val="0"/>
              </a:spcAft>
              <a:buClrTx/>
              <a:buSzTx/>
              <a:buFont typeface="Arial" pitchFamily="34" charset="0"/>
              <a:buChar char="•"/>
              <a:tabLst/>
              <a:defRPr/>
            </a:pPr>
            <a:r>
              <a:rPr kumimoji="0" lang="en-US" sz="2100" b="1" i="0" u="none" strike="noStrike" kern="1200" cap="none" spc="0" normalizeH="0" baseline="0" noProof="0" dirty="0">
                <a:ln>
                  <a:noFill/>
                </a:ln>
                <a:solidFill>
                  <a:srgbClr val="E40059">
                    <a:lumMod val="50000"/>
                  </a:srgbClr>
                </a:solidFill>
                <a:effectLst/>
                <a:uLnTx/>
                <a:uFillTx/>
                <a:latin typeface="Calibri"/>
                <a:ea typeface="+mn-ea"/>
                <a:cs typeface="+mn-cs"/>
              </a:rPr>
              <a:t>Software deteriorates logically and functionally, requiring careful maintenance to manage complexity and keep it reliable.</a:t>
            </a:r>
          </a:p>
          <a:p>
            <a:pPr marL="285750" marR="0" lvl="0" indent="-285750" algn="l" defTabSz="914400" rtl="0" eaLnBrk="1" fontAlgn="base" latinLnBrk="0" hangingPunct="1">
              <a:lnSpc>
                <a:spcPct val="100000"/>
              </a:lnSpc>
              <a:spcBef>
                <a:spcPts val="0"/>
              </a:spcBef>
              <a:spcAft>
                <a:spcPts val="0"/>
              </a:spcAft>
              <a:buClrTx/>
              <a:buSzTx/>
              <a:buFont typeface="Arial" pitchFamily="34" charset="0"/>
              <a:buChar char="•"/>
              <a:tabLst/>
              <a:defRPr/>
            </a:pPr>
            <a:endParaRPr kumimoji="0" lang="en-US" sz="2100" b="1" i="0" u="none" strike="noStrike" kern="1200" cap="none" spc="0" normalizeH="0" baseline="0" noProof="0" dirty="0">
              <a:ln>
                <a:noFill/>
              </a:ln>
              <a:solidFill>
                <a:srgbClr val="E40059">
                  <a:lumMod val="50000"/>
                </a:srgbClr>
              </a:solidFill>
              <a:effectLst/>
              <a:uLnTx/>
              <a:uFillTx/>
              <a:latin typeface="Calibri"/>
              <a:ea typeface="+mn-ea"/>
              <a:cs typeface="+mn-cs"/>
            </a:endParaRPr>
          </a:p>
        </p:txBody>
      </p:sp>
    </p:spTree>
    <p:extLst>
      <p:ext uri="{BB962C8B-B14F-4D97-AF65-F5344CB8AC3E}">
        <p14:creationId xmlns:p14="http://schemas.microsoft.com/office/powerpoint/2010/main" val="3163964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0448"/>
            <a:ext cx="12192000" cy="6863417"/>
          </a:xfrm>
          <a:prstGeom prst="rect">
            <a:avLst/>
          </a:prstGeom>
          <a:solidFill>
            <a:schemeClr val="bg1">
              <a:lumMod val="95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rgbClr val="C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Calibri"/>
                <a:ea typeface="+mn-ea"/>
                <a:cs typeface="+mn-cs"/>
              </a:rPr>
              <a:t>3] Most Software is Custom Built , rather than being assembled from existing components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A Software Components should be designed and implemented such a way that it can be reused in many different programs.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Reusable parts include</a:t>
            </a:r>
            <a:r>
              <a:rPr kumimoji="0" lang="en-US" sz="2000" b="0" i="0" u="none" strike="noStrike" kern="1200" cap="none" spc="0" normalizeH="0" baseline="0" noProof="0" dirty="0">
                <a:ln>
                  <a:noFill/>
                </a:ln>
                <a:solidFill>
                  <a:prstClr val="black"/>
                </a:solidFill>
                <a:effectLst/>
                <a:uLnTx/>
                <a:uFillTx/>
                <a:latin typeface="Calibri"/>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data (information)</a:t>
            </a:r>
            <a:r>
              <a:rPr kumimoji="0" lang="en-US" sz="2000" b="0" i="0" u="none" strike="noStrike" kern="1200" cap="none" spc="0" normalizeH="0" baseline="0" noProof="0" dirty="0">
                <a:ln>
                  <a:noFill/>
                </a:ln>
                <a:solidFill>
                  <a:prstClr val="black"/>
                </a:solidFill>
                <a:effectLst/>
                <a:uLnTx/>
                <a:uFillTx/>
                <a:latin typeface="Calibri"/>
                <a:ea typeface="+mn-ea"/>
                <a:cs typeface="+mn-cs"/>
              </a:rPr>
              <a:t> and the </a:t>
            </a:r>
            <a:r>
              <a:rPr kumimoji="0" lang="en-US" sz="2000" b="1" i="0" u="none" strike="noStrike" kern="1200" cap="none" spc="0" normalizeH="0" baseline="0" noProof="0" dirty="0">
                <a:ln>
                  <a:noFill/>
                </a:ln>
                <a:solidFill>
                  <a:prstClr val="black"/>
                </a:solidFill>
                <a:effectLst/>
                <a:uLnTx/>
                <a:uFillTx/>
                <a:latin typeface="Calibri"/>
                <a:ea typeface="+mn-ea"/>
                <a:cs typeface="+mn-cs"/>
              </a:rPr>
              <a:t>procedures (steps or methods)</a:t>
            </a:r>
            <a:r>
              <a:rPr kumimoji="0" lang="en-US" sz="2000" b="0" i="0" u="none" strike="noStrike" kern="1200" cap="none" spc="0" normalizeH="0" baseline="0" noProof="0" dirty="0">
                <a:ln>
                  <a:noFill/>
                </a:ln>
                <a:solidFill>
                  <a:prstClr val="black"/>
                </a:solidFill>
                <a:effectLst/>
                <a:uLnTx/>
                <a:uFillTx/>
                <a:latin typeface="Calibri"/>
                <a:ea typeface="+mn-ea"/>
                <a:cs typeface="+mn-cs"/>
              </a:rPr>
              <a:t> to work on that data.</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This allows programmers to combine these parts to build new software efficiently.</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In hardware, reuse is natural</a:t>
            </a:r>
            <a:r>
              <a:rPr kumimoji="0" lang="en-US" sz="2000" b="0" i="0" u="none" strike="noStrike" kern="1200" cap="none" spc="0" normalizeH="0" baseline="0" noProof="0" dirty="0">
                <a:ln>
                  <a:noFill/>
                </a:ln>
                <a:solidFill>
                  <a:prstClr val="black"/>
                </a:solidFill>
                <a:effectLst/>
                <a:uLnTx/>
                <a:uFillTx/>
                <a:latin typeface="Calibri"/>
                <a:ea typeface="+mn-ea"/>
                <a:cs typeface="+mn-cs"/>
              </a:rPr>
              <a:t>:</a:t>
            </a:r>
            <a:br>
              <a:rPr kumimoji="0" lang="en-US" sz="2000" b="0" i="0" u="none" strike="noStrike" kern="1200" cap="none" spc="0" normalizeH="0" baseline="0" noProof="0" dirty="0">
                <a:ln>
                  <a:noFill/>
                </a:ln>
                <a:solidFill>
                  <a:prstClr val="black"/>
                </a:solidFill>
                <a:effectLst/>
                <a:uLnTx/>
                <a:uFillTx/>
                <a:latin typeface="Calibri"/>
                <a:ea typeface="+mn-ea"/>
                <a:cs typeface="+mn-cs"/>
              </a:rPr>
            </a:br>
            <a:r>
              <a:rPr kumimoji="0" lang="en-US" sz="2000" b="0" i="0" u="none" strike="noStrike" kern="1200" cap="none" spc="0" normalizeH="0" baseline="0" noProof="0" dirty="0">
                <a:ln>
                  <a:noFill/>
                </a:ln>
                <a:solidFill>
                  <a:prstClr val="black"/>
                </a:solidFill>
                <a:effectLst/>
                <a:uLnTx/>
                <a:uFillTx/>
                <a:latin typeface="Calibri"/>
                <a:ea typeface="+mn-ea"/>
                <a:cs typeface="+mn-cs"/>
              </a:rPr>
              <a:t>When engineers build physical devices (hardware), reusing components like chips, circuits, or mechanical parts is common and expected.</a:t>
            </a:r>
            <a:br>
              <a:rPr kumimoji="0" lang="en-US" sz="2000" b="0" i="0" u="none" strike="noStrike" kern="1200" cap="none" spc="0" normalizeH="0" baseline="0" noProof="0" dirty="0">
                <a:ln>
                  <a:noFill/>
                </a:ln>
                <a:solidFill>
                  <a:prstClr val="black"/>
                </a:solidFill>
                <a:effectLst/>
                <a:uLnTx/>
                <a:uFillTx/>
                <a:latin typeface="Calibri"/>
                <a:ea typeface="+mn-ea"/>
                <a:cs typeface="+mn-cs"/>
              </a:rPr>
            </a:br>
            <a:r>
              <a:rPr kumimoji="0" lang="en-US" sz="2000" b="0" i="0" u="none" strike="noStrike" kern="1200" cap="none" spc="0" normalizeH="0" baseline="0" noProof="0" dirty="0">
                <a:ln>
                  <a:noFill/>
                </a:ln>
                <a:solidFill>
                  <a:prstClr val="black"/>
                </a:solidFill>
                <a:effectLst/>
                <a:uLnTx/>
                <a:uFillTx/>
                <a:latin typeface="Calibri"/>
                <a:ea typeface="+mn-ea"/>
                <a:cs typeface="+mn-cs"/>
              </a:rPr>
              <a:t>It’s easier because hardware components are physical and standardized.</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In software, reuse needs planning</a:t>
            </a:r>
            <a:r>
              <a:rPr kumimoji="0" lang="en-US" sz="2000" b="0" i="0" u="none" strike="noStrike" kern="1200" cap="none" spc="0" normalizeH="0" baseline="0" noProof="0" dirty="0">
                <a:ln>
                  <a:noFill/>
                </a:ln>
                <a:solidFill>
                  <a:prstClr val="black"/>
                </a:solidFill>
                <a:effectLst/>
                <a:uLnTx/>
                <a:uFillTx/>
                <a:latin typeface="Calibri"/>
                <a:ea typeface="+mn-ea"/>
                <a:cs typeface="+mn-cs"/>
              </a:rPr>
              <a:t>:</a:t>
            </a:r>
            <a:br>
              <a:rPr kumimoji="0" lang="en-US" sz="2000" b="0" i="0" u="none" strike="noStrike" kern="1200" cap="none" spc="0" normalizeH="0" baseline="0" noProof="0" dirty="0">
                <a:ln>
                  <a:noFill/>
                </a:ln>
                <a:solidFill>
                  <a:prstClr val="black"/>
                </a:solidFill>
                <a:effectLst/>
                <a:uLnTx/>
                <a:uFillTx/>
                <a:latin typeface="Calibri"/>
                <a:ea typeface="+mn-ea"/>
                <a:cs typeface="+mn-cs"/>
              </a:rPr>
            </a:br>
            <a:r>
              <a:rPr kumimoji="0" lang="en-US" sz="2000" b="0" i="0" u="none" strike="noStrike" kern="1200" cap="none" spc="0" normalizeH="0" baseline="0" noProof="0" dirty="0">
                <a:ln>
                  <a:noFill/>
                </a:ln>
                <a:solidFill>
                  <a:prstClr val="black"/>
                </a:solidFill>
                <a:effectLst/>
                <a:uLnTx/>
                <a:uFillTx/>
                <a:latin typeface="Calibri"/>
                <a:ea typeface="+mn-ea"/>
                <a:cs typeface="+mn-cs"/>
              </a:rPr>
              <a:t>Software parts have to be carefully designed and planned so they can be reused effectively across multiple projects.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19882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0" y="43134"/>
            <a:ext cx="12192000" cy="6817251"/>
          </a:xfrm>
          <a:prstGeom prst="rect">
            <a:avLst/>
          </a:prstGeom>
          <a:solidFill>
            <a:schemeClr val="tx2">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prstClr val="black"/>
                </a:solidFill>
                <a:effectLst/>
                <a:uLnTx/>
                <a:uFillTx/>
                <a:latin typeface="Calibri"/>
                <a:ea typeface="+mn-ea"/>
                <a:cs typeface="+mn-cs"/>
              </a:rPr>
              <a:t>TYPES OF SOFTWARE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C00000"/>
                </a:solidFill>
                <a:effectLst/>
                <a:uLnTx/>
                <a:uFillTx/>
                <a:latin typeface="Calibri"/>
                <a:ea typeface="+mn-ea"/>
                <a:cs typeface="+mn-cs"/>
              </a:rPr>
              <a:t>1. System Software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prstClr val="black"/>
                </a:solidFill>
                <a:effectLst/>
                <a:uLnTx/>
                <a:uFillTx/>
                <a:latin typeface="Calibri"/>
                <a:ea typeface="+mn-ea"/>
                <a:cs typeface="+mn-cs"/>
              </a:rPr>
              <a:t>Definition:</a:t>
            </a:r>
            <a:br>
              <a:rPr kumimoji="0" lang="en-US" sz="1900" b="0" i="0" u="none" strike="noStrike" kern="1200" cap="none" spc="0" normalizeH="0" baseline="0" noProof="0" dirty="0">
                <a:ln>
                  <a:noFill/>
                </a:ln>
                <a:solidFill>
                  <a:prstClr val="black"/>
                </a:solidFill>
                <a:effectLst/>
                <a:uLnTx/>
                <a:uFillTx/>
                <a:latin typeface="Calibri"/>
                <a:ea typeface="+mn-ea"/>
                <a:cs typeface="+mn-cs"/>
              </a:rPr>
            </a:br>
            <a:r>
              <a:rPr kumimoji="0" lang="en-US" sz="1900" b="0" i="0" u="none" strike="noStrike" kern="1200" cap="none" spc="0" normalizeH="0" baseline="0" noProof="0" dirty="0">
                <a:ln>
                  <a:noFill/>
                </a:ln>
                <a:solidFill>
                  <a:prstClr val="black"/>
                </a:solidFill>
                <a:effectLst/>
                <a:uLnTx/>
                <a:uFillTx/>
                <a:latin typeface="Calibri"/>
                <a:ea typeface="+mn-ea"/>
                <a:cs typeface="+mn-cs"/>
              </a:rPr>
              <a:t>System software manages and controls computer hardware so that application software can function. It acts as a bridge between hardware and user-level applications.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prstClr val="black"/>
                </a:solidFill>
                <a:effectLst/>
                <a:uLnTx/>
                <a:uFillTx/>
                <a:latin typeface="Calibri"/>
                <a:ea typeface="+mn-ea"/>
                <a:cs typeface="+mn-cs"/>
              </a:rPr>
              <a:t>Examples:</a:t>
            </a:r>
            <a:endParaRPr kumimoji="0" lang="en-US" sz="19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prstClr val="black"/>
                </a:solidFill>
                <a:effectLst/>
                <a:uLnTx/>
                <a:uFillTx/>
                <a:latin typeface="Calibri"/>
                <a:ea typeface="+mn-ea"/>
                <a:cs typeface="+mn-cs"/>
              </a:rPr>
              <a:t>Operating Systems:</a:t>
            </a:r>
            <a:r>
              <a:rPr kumimoji="0" lang="en-US" sz="1900" b="0" i="0" u="none" strike="noStrike" kern="1200" cap="none" spc="0" normalizeH="0" baseline="0" noProof="0" dirty="0">
                <a:ln>
                  <a:noFill/>
                </a:ln>
                <a:solidFill>
                  <a:prstClr val="black"/>
                </a:solidFill>
                <a:effectLst/>
                <a:uLnTx/>
                <a:uFillTx/>
                <a:latin typeface="Calibri"/>
                <a:ea typeface="+mn-ea"/>
                <a:cs typeface="+mn-cs"/>
              </a:rPr>
              <a:t> Windows, Linux, </a:t>
            </a:r>
            <a:r>
              <a:rPr kumimoji="0" lang="en-US" sz="1900" b="0" i="0" u="none" strike="noStrike" kern="1200" cap="none" spc="0" normalizeH="0" baseline="0" noProof="0" dirty="0" err="1">
                <a:ln>
                  <a:noFill/>
                </a:ln>
                <a:solidFill>
                  <a:prstClr val="black"/>
                </a:solidFill>
                <a:effectLst/>
                <a:uLnTx/>
                <a:uFillTx/>
                <a:latin typeface="Calibri"/>
                <a:ea typeface="+mn-ea"/>
                <a:cs typeface="+mn-cs"/>
              </a:rPr>
              <a:t>macOS</a:t>
            </a:r>
            <a:endParaRPr kumimoji="0" lang="en-US" sz="19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prstClr val="black"/>
                </a:solidFill>
                <a:effectLst/>
                <a:uLnTx/>
                <a:uFillTx/>
                <a:latin typeface="Calibri"/>
                <a:ea typeface="+mn-ea"/>
                <a:cs typeface="+mn-cs"/>
              </a:rPr>
              <a:t>Utility Programs:</a:t>
            </a:r>
            <a:r>
              <a:rPr kumimoji="0" lang="en-US" sz="1900" b="0" i="0" u="none" strike="noStrike" kern="1200" cap="none" spc="0" normalizeH="0" baseline="0" noProof="0" dirty="0">
                <a:ln>
                  <a:noFill/>
                </a:ln>
                <a:solidFill>
                  <a:prstClr val="black"/>
                </a:solidFill>
                <a:effectLst/>
                <a:uLnTx/>
                <a:uFillTx/>
                <a:latin typeface="Calibri"/>
                <a:ea typeface="+mn-ea"/>
                <a:cs typeface="+mn-cs"/>
              </a:rPr>
              <a:t> Disk cleanup tools, antivirus software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prstClr val="black"/>
                </a:solidFill>
                <a:effectLst/>
                <a:uLnTx/>
                <a:uFillTx/>
                <a:latin typeface="Calibri"/>
                <a:ea typeface="+mn-ea"/>
                <a:cs typeface="+mn-cs"/>
              </a:rPr>
              <a:t>Device Drivers:</a:t>
            </a:r>
            <a:r>
              <a:rPr kumimoji="0" lang="en-US" sz="1900" b="0" i="0" u="none" strike="noStrike" kern="1200" cap="none" spc="0" normalizeH="0" baseline="0" noProof="0" dirty="0">
                <a:ln>
                  <a:noFill/>
                </a:ln>
                <a:solidFill>
                  <a:prstClr val="black"/>
                </a:solidFill>
                <a:effectLst/>
                <a:uLnTx/>
                <a:uFillTx/>
                <a:latin typeface="Calibri"/>
                <a:ea typeface="+mn-ea"/>
                <a:cs typeface="+mn-cs"/>
              </a:rPr>
              <a:t> Printer driver, graphics card driver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C00000"/>
                </a:solidFill>
                <a:effectLst/>
                <a:uLnTx/>
                <a:uFillTx/>
                <a:latin typeface="Calibri"/>
                <a:ea typeface="+mn-ea"/>
                <a:cs typeface="+mn-cs"/>
              </a:rPr>
              <a:t>2. Application Software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prstClr val="black"/>
                </a:solidFill>
                <a:effectLst/>
                <a:uLnTx/>
                <a:uFillTx/>
                <a:latin typeface="Calibri"/>
                <a:ea typeface="+mn-ea"/>
                <a:cs typeface="+mn-cs"/>
              </a:rPr>
              <a:t>Definition:</a:t>
            </a:r>
            <a:br>
              <a:rPr kumimoji="0" lang="en-US" sz="1900" b="0" i="0" u="none" strike="noStrike" kern="1200" cap="none" spc="0" normalizeH="0" baseline="0" noProof="0" dirty="0">
                <a:ln>
                  <a:noFill/>
                </a:ln>
                <a:solidFill>
                  <a:prstClr val="black"/>
                </a:solidFill>
                <a:effectLst/>
                <a:uLnTx/>
                <a:uFillTx/>
                <a:latin typeface="Calibri"/>
                <a:ea typeface="+mn-ea"/>
                <a:cs typeface="+mn-cs"/>
              </a:rPr>
            </a:br>
            <a:r>
              <a:rPr kumimoji="0" lang="en-US" sz="1900" b="0" i="0" u="none" strike="noStrike" kern="1200" cap="none" spc="0" normalizeH="0" baseline="0" noProof="0" dirty="0">
                <a:ln>
                  <a:noFill/>
                </a:ln>
                <a:solidFill>
                  <a:prstClr val="black"/>
                </a:solidFill>
                <a:effectLst/>
                <a:uLnTx/>
                <a:uFillTx/>
                <a:latin typeface="Calibri"/>
                <a:ea typeface="+mn-ea"/>
                <a:cs typeface="+mn-cs"/>
              </a:rPr>
              <a:t>Application software is designed for end-users to perform specific tasks such as word processing, web browsing, or playing music.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prstClr val="black"/>
                </a:solidFill>
                <a:effectLst/>
                <a:uLnTx/>
                <a:uFillTx/>
                <a:latin typeface="Calibri"/>
                <a:ea typeface="+mn-ea"/>
                <a:cs typeface="+mn-cs"/>
              </a:rPr>
              <a:t>Examples:</a:t>
            </a:r>
            <a:endParaRPr kumimoji="0" lang="en-US" sz="19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ri"/>
                <a:ea typeface="+mn-ea"/>
                <a:cs typeface="+mn-cs"/>
              </a:rPr>
              <a:t>Microsoft Word (word processing) , Google Chrome (web browsing) , Adobe Photoshop (image editing)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C00000"/>
                </a:solidFill>
                <a:effectLst/>
                <a:uLnTx/>
                <a:uFillTx/>
                <a:latin typeface="Calibri"/>
                <a:ea typeface="+mn-ea"/>
                <a:cs typeface="+mn-cs"/>
              </a:rPr>
              <a:t>3. Embedded Software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prstClr val="black"/>
                </a:solidFill>
                <a:effectLst/>
                <a:uLnTx/>
                <a:uFillTx/>
                <a:latin typeface="Calibri"/>
                <a:ea typeface="+mn-ea"/>
                <a:cs typeface="+mn-cs"/>
              </a:rPr>
              <a:t>Definition:</a:t>
            </a:r>
            <a:br>
              <a:rPr kumimoji="0" lang="en-US" sz="1900" b="0" i="0" u="none" strike="noStrike" kern="1200" cap="none" spc="0" normalizeH="0" baseline="0" noProof="0" dirty="0">
                <a:ln>
                  <a:noFill/>
                </a:ln>
                <a:solidFill>
                  <a:prstClr val="black"/>
                </a:solidFill>
                <a:effectLst/>
                <a:uLnTx/>
                <a:uFillTx/>
                <a:latin typeface="Calibri"/>
                <a:ea typeface="+mn-ea"/>
                <a:cs typeface="+mn-cs"/>
              </a:rPr>
            </a:br>
            <a:r>
              <a:rPr kumimoji="0" lang="en-US" sz="1900" b="0" i="0" u="none" strike="noStrike" kern="1200" cap="none" spc="0" normalizeH="0" baseline="0" noProof="0" dirty="0">
                <a:ln>
                  <a:noFill/>
                </a:ln>
                <a:solidFill>
                  <a:prstClr val="black"/>
                </a:solidFill>
                <a:effectLst/>
                <a:uLnTx/>
                <a:uFillTx/>
                <a:latin typeface="Calibri"/>
                <a:ea typeface="+mn-ea"/>
                <a:cs typeface="+mn-cs"/>
              </a:rPr>
              <a:t>Embedded software is built into hardware devices and is used to control specific functions of that device. It’s usually found in non-PC devices.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prstClr val="black"/>
                </a:solidFill>
                <a:effectLst/>
                <a:uLnTx/>
                <a:uFillTx/>
                <a:latin typeface="Calibri"/>
                <a:ea typeface="+mn-ea"/>
                <a:cs typeface="+mn-cs"/>
              </a:rPr>
              <a:t>Examples:</a:t>
            </a:r>
            <a:endParaRPr kumimoji="0" lang="en-US" sz="19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ri"/>
                <a:ea typeface="+mn-ea"/>
                <a:cs typeface="+mn-cs"/>
              </a:rPr>
              <a:t>Software in washing machines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ri"/>
                <a:ea typeface="+mn-ea"/>
                <a:cs typeface="+mn-cs"/>
              </a:rPr>
              <a:t>Firmware in smartphones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ri"/>
                <a:ea typeface="+mn-ea"/>
                <a:cs typeface="+mn-cs"/>
              </a:rPr>
              <a:t>Code in microwave ovens or smart TVs</a:t>
            </a:r>
          </a:p>
        </p:txBody>
      </p:sp>
    </p:spTree>
    <p:extLst>
      <p:ext uri="{BB962C8B-B14F-4D97-AF65-F5344CB8AC3E}">
        <p14:creationId xmlns:p14="http://schemas.microsoft.com/office/powerpoint/2010/main" val="3496388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6740307"/>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alibri"/>
                <a:ea typeface="+mn-ea"/>
                <a:cs typeface="+mn-cs"/>
              </a:rPr>
              <a:t>4. Real-Time Software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Definition:</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Real-time software responds instantly to inputs or events and is used in systems where timing is critical.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Examples:</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Air traffic control systems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Medical monitoring systems (e.g., heart monitors)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Industrial robots and automation systems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alibri"/>
                <a:ea typeface="+mn-ea"/>
                <a:cs typeface="+mn-cs"/>
              </a:rPr>
              <a:t>5. Product-Line Software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Definition:</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Product-line software refers to a set of related software products that share common features but can be customized for different markets or customers.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Examples:</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Microsoft Office Suite (Word, Excel, PowerPoint, each with shared functionality)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Video game engines with different games built on the same code base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Car infotainment systems tailored for various models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alibri"/>
                <a:ea typeface="+mn-ea"/>
                <a:cs typeface="+mn-cs"/>
              </a:rPr>
              <a:t>6. Scientific Software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Definition:</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Scientific software is used for scientific research, simulations, calculations, and analysis.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Examples:</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MATLAB (mathematics and engineering simulations)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SPSS (statistical analysis)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CERN’s particle physics software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8459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17251"/>
          </a:xfrm>
          <a:prstGeom prst="rect">
            <a:avLst/>
          </a:prstGeom>
          <a:solidFill>
            <a:schemeClr val="tx2">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C00000"/>
                </a:solidFill>
                <a:effectLst/>
                <a:uLnTx/>
                <a:uFillTx/>
                <a:latin typeface="Calibri"/>
                <a:ea typeface="+mn-ea"/>
                <a:cs typeface="+mn-cs"/>
              </a:rPr>
              <a:t>7. Web-Based Software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prstClr val="black"/>
                </a:solidFill>
                <a:effectLst/>
                <a:uLnTx/>
                <a:uFillTx/>
                <a:latin typeface="Calibri"/>
                <a:ea typeface="+mn-ea"/>
                <a:cs typeface="+mn-cs"/>
              </a:rPr>
              <a:t>Definition:</a:t>
            </a:r>
            <a:br>
              <a:rPr kumimoji="0" lang="en-US" sz="1900" b="0" i="0" u="none" strike="noStrike" kern="1200" cap="none" spc="0" normalizeH="0" baseline="0" noProof="0" dirty="0">
                <a:ln>
                  <a:noFill/>
                </a:ln>
                <a:solidFill>
                  <a:prstClr val="black"/>
                </a:solidFill>
                <a:effectLst/>
                <a:uLnTx/>
                <a:uFillTx/>
                <a:latin typeface="Calibri"/>
                <a:ea typeface="+mn-ea"/>
                <a:cs typeface="+mn-cs"/>
              </a:rPr>
            </a:br>
            <a:r>
              <a:rPr kumimoji="0" lang="en-US" sz="1900" b="0" i="0" u="none" strike="noStrike" kern="1200" cap="none" spc="0" normalizeH="0" baseline="0" noProof="0" dirty="0">
                <a:ln>
                  <a:noFill/>
                </a:ln>
                <a:solidFill>
                  <a:prstClr val="black"/>
                </a:solidFill>
                <a:effectLst/>
                <a:uLnTx/>
                <a:uFillTx/>
                <a:latin typeface="Calibri"/>
                <a:ea typeface="+mn-ea"/>
                <a:cs typeface="+mn-cs"/>
              </a:rPr>
              <a:t>Web-based software is accessed via a web browser and runs on remote servers, not on the user’s local machine.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prstClr val="black"/>
                </a:solidFill>
                <a:effectLst/>
                <a:uLnTx/>
                <a:uFillTx/>
                <a:latin typeface="Calibri"/>
                <a:ea typeface="+mn-ea"/>
                <a:cs typeface="+mn-cs"/>
              </a:rPr>
              <a:t>Examples:</a:t>
            </a:r>
            <a:endParaRPr kumimoji="0" lang="en-US" sz="19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ri"/>
                <a:ea typeface="+mn-ea"/>
                <a:cs typeface="+mn-cs"/>
              </a:rPr>
              <a:t>Google Docs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ri"/>
                <a:ea typeface="+mn-ea"/>
                <a:cs typeface="+mn-cs"/>
              </a:rPr>
              <a:t>Facebook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ri"/>
                <a:ea typeface="+mn-ea"/>
                <a:cs typeface="+mn-cs"/>
              </a:rPr>
              <a:t>Online banking systems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C00000"/>
                </a:solidFill>
                <a:effectLst/>
                <a:uLnTx/>
                <a:uFillTx/>
                <a:latin typeface="Calibri"/>
                <a:ea typeface="+mn-ea"/>
                <a:cs typeface="+mn-cs"/>
              </a:rPr>
              <a:t>8. AI Software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prstClr val="black"/>
                </a:solidFill>
                <a:effectLst/>
                <a:uLnTx/>
                <a:uFillTx/>
                <a:latin typeface="Calibri"/>
                <a:ea typeface="+mn-ea"/>
                <a:cs typeface="+mn-cs"/>
              </a:rPr>
              <a:t>Definition:</a:t>
            </a:r>
            <a:br>
              <a:rPr kumimoji="0" lang="en-US" sz="1900" b="0" i="0" u="none" strike="noStrike" kern="1200" cap="none" spc="0" normalizeH="0" baseline="0" noProof="0" dirty="0">
                <a:ln>
                  <a:noFill/>
                </a:ln>
                <a:solidFill>
                  <a:prstClr val="black"/>
                </a:solidFill>
                <a:effectLst/>
                <a:uLnTx/>
                <a:uFillTx/>
                <a:latin typeface="Calibri"/>
                <a:ea typeface="+mn-ea"/>
                <a:cs typeface="+mn-cs"/>
              </a:rPr>
            </a:br>
            <a:r>
              <a:rPr kumimoji="0" lang="en-US" sz="1900" b="0" i="0" u="none" strike="noStrike" kern="1200" cap="none" spc="0" normalizeH="0" baseline="0" noProof="0" dirty="0">
                <a:ln>
                  <a:noFill/>
                </a:ln>
                <a:solidFill>
                  <a:prstClr val="black"/>
                </a:solidFill>
                <a:effectLst/>
                <a:uLnTx/>
                <a:uFillTx/>
                <a:latin typeface="Calibri"/>
                <a:ea typeface="+mn-ea"/>
                <a:cs typeface="+mn-cs"/>
              </a:rPr>
              <a:t>AI (Artificial Intelligence) software mimics human intelligence and is used for learning, reasoning, and problem-solving.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prstClr val="black"/>
                </a:solidFill>
                <a:effectLst/>
                <a:uLnTx/>
                <a:uFillTx/>
                <a:latin typeface="Calibri"/>
                <a:ea typeface="+mn-ea"/>
                <a:cs typeface="+mn-cs"/>
              </a:rPr>
              <a:t>Examples:</a:t>
            </a:r>
            <a:endParaRPr kumimoji="0" lang="en-US" sz="19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err="1">
                <a:ln>
                  <a:noFill/>
                </a:ln>
                <a:solidFill>
                  <a:prstClr val="black"/>
                </a:solidFill>
                <a:effectLst/>
                <a:uLnTx/>
                <a:uFillTx/>
                <a:latin typeface="Calibri"/>
                <a:ea typeface="+mn-ea"/>
                <a:cs typeface="+mn-cs"/>
              </a:rPr>
              <a:t>ChatGPT</a:t>
            </a:r>
            <a:r>
              <a:rPr kumimoji="0" lang="en-US" sz="1900" b="0" i="0" u="none" strike="noStrike" kern="1200" cap="none" spc="0" normalizeH="0" baseline="0" noProof="0" dirty="0">
                <a:ln>
                  <a:noFill/>
                </a:ln>
                <a:solidFill>
                  <a:prstClr val="black"/>
                </a:solidFill>
                <a:effectLst/>
                <a:uLnTx/>
                <a:uFillTx/>
                <a:latin typeface="Calibri"/>
                <a:ea typeface="+mn-ea"/>
                <a:cs typeface="+mn-cs"/>
              </a:rPr>
              <a:t> (language processing)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ri"/>
                <a:ea typeface="+mn-ea"/>
                <a:cs typeface="+mn-cs"/>
              </a:rPr>
              <a:t> </a:t>
            </a:r>
            <a:r>
              <a:rPr kumimoji="0" lang="en-US" sz="1900" b="0" i="0" u="none" strike="noStrike" kern="1200" cap="none" spc="0" normalizeH="0" baseline="0" noProof="0" dirty="0" err="1">
                <a:ln>
                  <a:noFill/>
                </a:ln>
                <a:solidFill>
                  <a:prstClr val="black"/>
                </a:solidFill>
                <a:effectLst/>
                <a:uLnTx/>
                <a:uFillTx/>
                <a:latin typeface="Calibri"/>
                <a:ea typeface="+mn-ea"/>
                <a:cs typeface="+mn-cs"/>
              </a:rPr>
              <a:t>Alexa</a:t>
            </a:r>
            <a:r>
              <a:rPr kumimoji="0" lang="en-US" sz="1900" b="0" i="0" u="none" strike="noStrike" kern="1200" cap="none" spc="0" normalizeH="0" baseline="0" noProof="0" dirty="0">
                <a:ln>
                  <a:noFill/>
                </a:ln>
                <a:solidFill>
                  <a:prstClr val="black"/>
                </a:solidFill>
                <a:effectLst/>
                <a:uLnTx/>
                <a:uFillTx/>
                <a:latin typeface="Calibri"/>
                <a:ea typeface="+mn-ea"/>
                <a:cs typeface="+mn-cs"/>
              </a:rPr>
              <a:t> (virtual assistants)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ri"/>
                <a:ea typeface="+mn-ea"/>
                <a:cs typeface="+mn-cs"/>
              </a:rPr>
              <a:t>Self-driving car software (e.g., Tesla Autopilot)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C00000"/>
                </a:solidFill>
                <a:effectLst/>
                <a:uLnTx/>
                <a:uFillTx/>
                <a:latin typeface="Calibri"/>
                <a:ea typeface="+mn-ea"/>
                <a:cs typeface="+mn-cs"/>
              </a:rPr>
              <a:t>9. Personal Computer Software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prstClr val="black"/>
                </a:solidFill>
                <a:effectLst/>
                <a:uLnTx/>
                <a:uFillTx/>
                <a:latin typeface="Calibri"/>
                <a:ea typeface="+mn-ea"/>
                <a:cs typeface="+mn-cs"/>
              </a:rPr>
              <a:t>Definition:</a:t>
            </a:r>
            <a:br>
              <a:rPr kumimoji="0" lang="en-US" sz="1900" b="0" i="0" u="none" strike="noStrike" kern="1200" cap="none" spc="0" normalizeH="0" baseline="0" noProof="0" dirty="0">
                <a:ln>
                  <a:noFill/>
                </a:ln>
                <a:solidFill>
                  <a:prstClr val="black"/>
                </a:solidFill>
                <a:effectLst/>
                <a:uLnTx/>
                <a:uFillTx/>
                <a:latin typeface="Calibri"/>
                <a:ea typeface="+mn-ea"/>
                <a:cs typeface="+mn-cs"/>
              </a:rPr>
            </a:br>
            <a:r>
              <a:rPr kumimoji="0" lang="en-US" sz="1900" b="0" i="0" u="none" strike="noStrike" kern="1200" cap="none" spc="0" normalizeH="0" baseline="0" noProof="0" dirty="0">
                <a:ln>
                  <a:noFill/>
                </a:ln>
                <a:solidFill>
                  <a:prstClr val="black"/>
                </a:solidFill>
                <a:effectLst/>
                <a:uLnTx/>
                <a:uFillTx/>
                <a:latin typeface="Calibri"/>
                <a:ea typeface="+mn-ea"/>
                <a:cs typeface="+mn-cs"/>
              </a:rPr>
              <a:t>This refers to software intended for use on personal computers, helping users perform everyday tasks.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prstClr val="black"/>
                </a:solidFill>
                <a:effectLst/>
                <a:uLnTx/>
                <a:uFillTx/>
                <a:latin typeface="Calibri"/>
                <a:ea typeface="+mn-ea"/>
                <a:cs typeface="+mn-cs"/>
              </a:rPr>
              <a:t>Examples:</a:t>
            </a:r>
            <a:endParaRPr kumimoji="0" lang="en-US" sz="19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ri"/>
                <a:ea typeface="+mn-ea"/>
                <a:cs typeface="+mn-cs"/>
              </a:rPr>
              <a:t>Microsoft Office (document editing)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ri"/>
                <a:ea typeface="+mn-ea"/>
                <a:cs typeface="+mn-cs"/>
              </a:rPr>
              <a:t>VLC Media Player (media playback)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ri"/>
                <a:ea typeface="+mn-ea"/>
                <a:cs typeface="+mn-cs"/>
              </a:rPr>
              <a:t>Steam (PC gaming platform)</a:t>
            </a:r>
          </a:p>
        </p:txBody>
      </p:sp>
    </p:spTree>
    <p:extLst>
      <p:ext uri="{BB962C8B-B14F-4D97-AF65-F5344CB8AC3E}">
        <p14:creationId xmlns:p14="http://schemas.microsoft.com/office/powerpoint/2010/main" val="3627029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99" y="359596"/>
            <a:ext cx="11432569" cy="6093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4285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7837" y="44053"/>
            <a:ext cx="12192000" cy="400110"/>
          </a:xfrm>
          <a:prstGeom prst="rect">
            <a:avLst/>
          </a:prstGeom>
          <a:solidFill>
            <a:schemeClr val="bg2">
              <a:lumMod val="2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a:ea typeface="+mn-ea"/>
                <a:cs typeface="+mn-cs"/>
              </a:rPr>
              <a:t> </a:t>
            </a:r>
            <a:r>
              <a:rPr kumimoji="0" lang="en-US" sz="2000" b="1" i="0" u="none" strike="noStrike" kern="1200" cap="none" spc="0" normalizeH="0" baseline="0" noProof="0" dirty="0">
                <a:ln>
                  <a:noFill/>
                </a:ln>
                <a:solidFill>
                  <a:prstClr val="white"/>
                </a:solidFill>
                <a:effectLst/>
                <a:uLnTx/>
                <a:uFillTx/>
                <a:latin typeface="Calibri"/>
                <a:ea typeface="+mn-ea"/>
                <a:cs typeface="+mn-cs"/>
              </a:rPr>
              <a:t>The Process: Software Engineering: A Layered approach -Process, Methods and Tools :</a:t>
            </a:r>
          </a:p>
        </p:txBody>
      </p:sp>
      <p:sp>
        <p:nvSpPr>
          <p:cNvPr id="4" name="TextBox 3"/>
          <p:cNvSpPr txBox="1"/>
          <p:nvPr/>
        </p:nvSpPr>
        <p:spPr>
          <a:xfrm>
            <a:off x="96395" y="646986"/>
            <a:ext cx="12153442" cy="1477328"/>
          </a:xfrm>
          <a:prstGeom prst="rect">
            <a:avLst/>
          </a:prstGeom>
          <a:solidFill>
            <a:schemeClr val="tx2">
              <a:lumMod val="20000"/>
              <a:lumOff val="80000"/>
            </a:schemeClr>
          </a:solid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A process is defined as a series of steps involving activities and resources which produces the desired output.</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Software Engineering is a layered technology , Means to develop software one will have to go from one layer to another.</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A layered Technology approach ensures well designed software product .</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The layer are related and each layer demands the fulfillment of the previous layer.</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1800" b="1" i="0" u="none" strike="noStrike" kern="1200" cap="none" spc="0" normalizeH="0" baseline="0" noProof="0" dirty="0">
              <a:ln>
                <a:noFill/>
              </a:ln>
              <a:solidFill>
                <a:prstClr val="black"/>
              </a:solidFill>
              <a:effectLst/>
              <a:uLnTx/>
              <a:uFillTx/>
              <a:latin typeface="Calibri"/>
              <a:ea typeface="+mn-ea"/>
              <a:cs typeface="+mn-cs"/>
            </a:endParaRPr>
          </a:p>
        </p:txBody>
      </p:sp>
      <p:pic>
        <p:nvPicPr>
          <p:cNvPr id="2050" name="Picture 2" descr="1. Software and Software Engineering Abdus Satta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1676" y="2570810"/>
            <a:ext cx="6687239" cy="4120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0087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 y="2122000"/>
            <a:ext cx="12192001" cy="1477328"/>
          </a:xfrm>
          <a:prstGeom prst="rect">
            <a:avLst/>
          </a:prstGeom>
          <a:solidFill>
            <a:schemeClr val="bg1">
              <a:lumMod val="8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40059">
                    <a:lumMod val="50000"/>
                  </a:srgbClr>
                </a:solidFill>
                <a:effectLst/>
                <a:uLnTx/>
                <a:uFillTx/>
                <a:latin typeface="Calibri"/>
                <a:ea typeface="+mn-ea"/>
                <a:cs typeface="+mn-cs"/>
              </a:rPr>
              <a:t>Method: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E40059">
                  <a:lumMod val="50000"/>
                </a:srgbClr>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During the process of software development the answers to all "how-to-do" questions are given by method. </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It has the information of all the tasks which includes communication, requirement analysis, design modeling, program construction, testing, and support.</a:t>
            </a:r>
          </a:p>
        </p:txBody>
      </p:sp>
      <p:sp>
        <p:nvSpPr>
          <p:cNvPr id="6" name="Rectangle 5"/>
          <p:cNvSpPr/>
          <p:nvPr/>
        </p:nvSpPr>
        <p:spPr>
          <a:xfrm>
            <a:off x="0" y="33694"/>
            <a:ext cx="12192000" cy="2062103"/>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661010"/>
                </a:solidFill>
                <a:effectLst/>
                <a:uLnTx/>
                <a:uFillTx/>
                <a:latin typeface="Calibri"/>
                <a:ea typeface="+mn-ea"/>
                <a:cs typeface="+mn-cs"/>
              </a:rPr>
              <a:t>Tools:</a:t>
            </a:r>
            <a:endParaRPr kumimoji="0" lang="en-US" sz="18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The first layer involves choosing the semi-automated and automated tools that will become the framework for the project. Some examples may include:</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Choosing Microsoft Publisher for web design</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Using Selenium for testing across platforms</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Using an integrated development environment (IDE) for building apps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Tools are integrated which means information created by one tool can be used by another</a:t>
            </a:r>
          </a:p>
        </p:txBody>
      </p:sp>
      <p:sp>
        <p:nvSpPr>
          <p:cNvPr id="7" name="Rectangle 6"/>
          <p:cNvSpPr/>
          <p:nvPr/>
        </p:nvSpPr>
        <p:spPr>
          <a:xfrm>
            <a:off x="-1" y="3599328"/>
            <a:ext cx="12192001" cy="2062103"/>
          </a:xfrm>
          <a:prstGeom prst="rect">
            <a:avLst/>
          </a:prstGeom>
          <a:solidFill>
            <a:schemeClr val="bg1">
              <a:lumMod val="9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349E">
                    <a:lumMod val="50000"/>
                  </a:srgbClr>
                </a:solidFill>
                <a:effectLst/>
                <a:uLnTx/>
                <a:uFillTx/>
                <a:latin typeface="Calibri"/>
                <a:ea typeface="+mn-ea"/>
                <a:cs typeface="+mn-cs"/>
              </a:rPr>
              <a:t> Process :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It is the foundation or base layer of software engineering. </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It is key that binds all the layers together which enables the development of software before the deadline or on time.  </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Process defines a framework that must be established for the effective delivery of software engineering technology. </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The software process covers all the activities, actions, and tasks required to be carried out for software development.</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endParaRPr>
          </a:p>
        </p:txBody>
      </p:sp>
      <p:pic>
        <p:nvPicPr>
          <p:cNvPr id="8"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7" y="5497418"/>
            <a:ext cx="12192000" cy="1244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64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 y="-11181"/>
            <a:ext cx="12226219" cy="2646878"/>
          </a:xfrm>
          <a:prstGeom prst="rect">
            <a:avLst/>
          </a:prstGeom>
          <a:solidFill>
            <a:schemeClr val="bg1">
              <a:lumMod val="95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lumMod val="95000"/>
                  <a:lumOff val="5000"/>
                </a:prstClr>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349E">
                    <a:lumMod val="50000"/>
                  </a:srgbClr>
                </a:solidFill>
                <a:effectLst/>
                <a:uLnTx/>
                <a:uFillTx/>
                <a:latin typeface="Calibri"/>
                <a:ea typeface="+mn-ea"/>
                <a:cs typeface="+mn-cs"/>
              </a:rPr>
              <a:t>A Quality Focus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lumMod val="95000"/>
                    <a:lumOff val="5000"/>
                  </a:prstClr>
                </a:solidFill>
                <a:effectLst/>
                <a:uLnTx/>
                <a:uFillTx/>
                <a:latin typeface="Calibri"/>
                <a:ea typeface="+mn-ea"/>
                <a:cs typeface="+mn-cs"/>
              </a:rPr>
              <a:t>At this point, the software is developed and refined to a point, but it is critical to apply quality control to the finished product.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lumMod val="95000"/>
                    <a:lumOff val="5000"/>
                  </a:prstClr>
                </a:solidFill>
                <a:effectLst/>
                <a:uLnTx/>
                <a:uFillTx/>
                <a:latin typeface="Calibri"/>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lumMod val="95000"/>
                    <a:lumOff val="5000"/>
                  </a:prstClr>
                </a:solidFill>
                <a:effectLst/>
                <a:uLnTx/>
                <a:uFillTx/>
                <a:latin typeface="Calibri"/>
                <a:ea typeface="+mn-ea"/>
                <a:cs typeface="+mn-cs"/>
              </a:rPr>
              <a:t>Besides testing the end product to ensure that it meets the client’s specifications, </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lumMod val="95000"/>
                    <a:lumOff val="5000"/>
                  </a:prstClr>
                </a:solidFill>
                <a:effectLst/>
                <a:uLnTx/>
                <a:uFillTx/>
                <a:latin typeface="Calibri"/>
                <a:ea typeface="+mn-ea"/>
                <a:cs typeface="+mn-cs"/>
              </a:rPr>
              <a:t>It also needs real-world testing to determine how efficient, usable, and reusable it will be, It needs to explore how many resource maintenance will require. </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lumMod val="95000"/>
                    <a:lumOff val="5000"/>
                  </a:prstClr>
                </a:solidFill>
                <a:effectLst/>
                <a:uLnTx/>
                <a:uFillTx/>
                <a:latin typeface="Calibri"/>
                <a:ea typeface="+mn-ea"/>
                <a:cs typeface="+mn-cs"/>
              </a:rPr>
              <a:t>If it is replacing an older software or platform, quality control will ensure the new software will meet the needs.</a:t>
            </a:r>
            <a:endParaRPr kumimoji="0" lang="en-US" sz="1800" b="0" i="0" u="none" strike="noStrike" kern="1200" cap="none" spc="0" normalizeH="0" baseline="0" noProof="0" dirty="0">
              <a:ln>
                <a:noFill/>
              </a:ln>
              <a:solidFill>
                <a:prstClr val="black">
                  <a:lumMod val="95000"/>
                  <a:lumOff val="5000"/>
                </a:prstClr>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95000"/>
                  <a:lumOff val="5000"/>
                </a:prstClr>
              </a:solidFill>
              <a:effectLst/>
              <a:uLnTx/>
              <a:uFillTx/>
              <a:latin typeface="Calibri"/>
              <a:ea typeface="+mn-ea"/>
              <a:cs typeface="+mn-cs"/>
            </a:endParaRPr>
          </a:p>
        </p:txBody>
      </p:sp>
    </p:spTree>
    <p:extLst>
      <p:ext uri="{BB962C8B-B14F-4D97-AF65-F5344CB8AC3E}">
        <p14:creationId xmlns:p14="http://schemas.microsoft.com/office/powerpoint/2010/main" val="2754777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090" y="-16659"/>
            <a:ext cx="12113910" cy="461665"/>
          </a:xfrm>
          <a:prstGeom prst="rect">
            <a:avLst/>
          </a:prstGeom>
          <a:solidFill>
            <a:schemeClr val="bg1">
              <a:lumMod val="85000"/>
            </a:schemeClr>
          </a:solid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Software Process Framework :  </a:t>
            </a:r>
          </a:p>
        </p:txBody>
      </p:sp>
      <p:sp>
        <p:nvSpPr>
          <p:cNvPr id="3" name="Rectangle 2"/>
          <p:cNvSpPr/>
          <p:nvPr/>
        </p:nvSpPr>
        <p:spPr>
          <a:xfrm>
            <a:off x="78089" y="433774"/>
            <a:ext cx="11899189" cy="2031325"/>
          </a:xfrm>
          <a:prstGeom prst="rect">
            <a:avLst/>
          </a:prstGeom>
          <a:solidFill>
            <a:schemeClr val="accent5">
              <a:lumMod val="20000"/>
              <a:lumOff val="80000"/>
            </a:schemeClr>
          </a:solid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 </a:t>
            </a:r>
            <a:r>
              <a:rPr kumimoji="0" lang="en-US" sz="1800" b="1" i="0" u="none" strike="noStrike" kern="1200" cap="none" spc="0" normalizeH="0" baseline="0" noProof="0" dirty="0">
                <a:ln>
                  <a:noFill/>
                </a:ln>
                <a:solidFill>
                  <a:prstClr val="black"/>
                </a:solidFill>
                <a:effectLst/>
                <a:uLnTx/>
                <a:uFillTx/>
                <a:latin typeface="Calibri"/>
                <a:ea typeface="+mn-ea"/>
                <a:cs typeface="+mn-cs"/>
              </a:rPr>
              <a:t>Software Process Framework</a:t>
            </a:r>
            <a:r>
              <a:rPr kumimoji="0" lang="en-US" sz="1800" b="0" i="0" u="none" strike="noStrike" kern="1200" cap="none" spc="0" normalizeH="0" baseline="0" noProof="0" dirty="0">
                <a:ln>
                  <a:noFill/>
                </a:ln>
                <a:solidFill>
                  <a:prstClr val="black"/>
                </a:solidFill>
                <a:effectLst/>
                <a:uLnTx/>
                <a:uFillTx/>
                <a:latin typeface="Calibri"/>
                <a:ea typeface="+mn-ea"/>
                <a:cs typeface="+mn-cs"/>
              </a:rPr>
              <a:t> is a structured approach that defines the steps, tasks, and activities involved in software development, Software Process Framework details the steps and chronological order of a process. </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 Software Process Framework helps in project planning, risk management, and quality assurance by detailing the chronological order of actions.</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It includes task sets, umbrella activities, and process framework activities, all essential for a </a:t>
            </a:r>
            <a:r>
              <a:rPr kumimoji="0" lang="en-US" sz="1800" b="1" i="0" u="none" strike="noStrike" kern="1200" cap="none" spc="0" normalizeH="0" baseline="0" noProof="0" dirty="0">
                <a:ln>
                  <a:noFill/>
                </a:ln>
                <a:solidFill>
                  <a:prstClr val="black"/>
                </a:solidFill>
                <a:effectLst/>
                <a:uLnTx/>
                <a:uFillTx/>
                <a:latin typeface="Calibri"/>
                <a:ea typeface="+mn-ea"/>
                <a:cs typeface="+mn-cs"/>
              </a:rPr>
              <a:t>successful software development lifecycle</a:t>
            </a:r>
            <a:r>
              <a:rPr kumimoji="0" lang="en-US" sz="1800" b="0" i="0" u="none" strike="noStrike" kern="1200" cap="none" spc="0" normalizeH="0" baseline="0" noProof="0" dirty="0">
                <a:ln>
                  <a:noFill/>
                </a:ln>
                <a:solidFill>
                  <a:prstClr val="black"/>
                </a:solidFill>
                <a:effectLst/>
                <a:uLnTx/>
                <a:uFillTx/>
                <a:latin typeface="Calibri"/>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 process framework contains a set of umbrella activities that are applicable across the entire software process.</a:t>
            </a:r>
          </a:p>
        </p:txBody>
      </p:sp>
      <p:pic>
        <p:nvPicPr>
          <p:cNvPr id="5" name="Picture 4" descr="C:\Users\cmdf55\AppData\Local\Temp\{E88C9E97-2F74-45AC-991D-14B9629E0C33}.tmp"/>
          <p:cNvPicPr/>
          <p:nvPr/>
        </p:nvPicPr>
        <p:blipFill>
          <a:blip r:embed="rId2">
            <a:extLst>
              <a:ext uri="{28A0092B-C50C-407E-A947-70E740481C1C}">
                <a14:useLocalDpi xmlns:a14="http://schemas.microsoft.com/office/drawing/2010/main" val="0"/>
              </a:ext>
            </a:extLst>
          </a:blip>
          <a:srcRect/>
          <a:stretch>
            <a:fillRect/>
          </a:stretch>
        </p:blipFill>
        <p:spPr bwMode="auto">
          <a:xfrm>
            <a:off x="1905918" y="2465100"/>
            <a:ext cx="7568588" cy="4392900"/>
          </a:xfrm>
          <a:prstGeom prst="rect">
            <a:avLst/>
          </a:prstGeom>
          <a:noFill/>
          <a:ln>
            <a:noFill/>
          </a:ln>
        </p:spPr>
      </p:pic>
    </p:spTree>
    <p:extLst>
      <p:ext uri="{BB962C8B-B14F-4D97-AF65-F5344CB8AC3E}">
        <p14:creationId xmlns:p14="http://schemas.microsoft.com/office/powerpoint/2010/main" val="2106610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9430" y="222781"/>
            <a:ext cx="10152434"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AutoShape 4" descr="Lightbo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Rectangle 2"/>
          <p:cNvSpPr/>
          <p:nvPr/>
        </p:nvSpPr>
        <p:spPr>
          <a:xfrm>
            <a:off x="0" y="62088"/>
            <a:ext cx="12096520" cy="1200329"/>
          </a:xfrm>
          <a:prstGeom prst="rect">
            <a:avLst/>
          </a:prstGeom>
          <a:solidFill>
            <a:schemeClr val="bg1">
              <a:lumMod val="95000"/>
            </a:schemeClr>
          </a:solid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alibri"/>
                <a:ea typeface="+mn-ea"/>
                <a:cs typeface="+mn-cs"/>
              </a:rPr>
              <a:t>Software Process Framework Activities :</a:t>
            </a:r>
          </a:p>
          <a:p>
            <a:pPr marL="285750" marR="0" lvl="0" indent="-285750" algn="l" defTabSz="914400" rtl="0" eaLnBrk="1" fontAlgn="base" latinLnBrk="0" hangingPunct="1">
              <a:lnSpc>
                <a:spcPct val="100000"/>
              </a:lnSpc>
              <a:spcBef>
                <a:spcPts val="0"/>
              </a:spcBef>
              <a:spcAft>
                <a:spcPts val="0"/>
              </a:spcAft>
              <a:buClrTx/>
              <a:buSzTx/>
              <a:buFont typeface="Arial"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Communication, planning, modeling, construction, and deployment are 5 process framework activities can be used during the development of small program , the creation of large web application and for engineering large complex computer based system.</a:t>
            </a:r>
          </a:p>
        </p:txBody>
      </p:sp>
      <p:sp>
        <p:nvSpPr>
          <p:cNvPr id="6" name="Rectangle 5"/>
          <p:cNvSpPr/>
          <p:nvPr/>
        </p:nvSpPr>
        <p:spPr>
          <a:xfrm>
            <a:off x="0" y="1298138"/>
            <a:ext cx="12096520" cy="5078313"/>
          </a:xfrm>
          <a:prstGeom prst="rect">
            <a:avLst/>
          </a:prstGeom>
          <a:solidFill>
            <a:schemeClr val="tx2">
              <a:lumMod val="20000"/>
              <a:lumOff val="80000"/>
            </a:schemeClr>
          </a:solid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1. Communication :</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Definition</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Communication involves gathering requirements from customers and stakeholders to determine the system's objectives and the software's requirements.</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Effective communication is essential to understand what the users need from the software.</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Activities</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To communicate with client</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Requirement Gathering</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Engaging with consumers and stakeholders through meetings, interviews, and surveys to understand their needs and expectations.</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Objective Setting</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Clearly defining what the system should achieve based on the gathered requirements.</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2. Planning :</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Definition</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Planning involves establishing an engineering work plan, describing technical risks, listing resource requirements, and defining a work schedule.</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Activities</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Work Plan</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Creating a detailed plan that outlines the tasks and activities needed to develop the software.</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Risk Assessment</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Identifying potential technical risks and planning how to mitigate them.</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Resource Allocation</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Determining the resources (time, personnel, tools) required for the project.</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Schedule Definition</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Setting a timeline for completing different phases of the project.</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endParaRPr>
          </a:p>
        </p:txBody>
      </p:sp>
    </p:spTree>
    <p:extLst>
      <p:ext uri="{BB962C8B-B14F-4D97-AF65-F5344CB8AC3E}">
        <p14:creationId xmlns:p14="http://schemas.microsoft.com/office/powerpoint/2010/main" val="3761933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99150" y="0"/>
            <a:ext cx="12008385" cy="6740307"/>
          </a:xfrm>
          <a:prstGeom prst="rect">
            <a:avLst/>
          </a:prstGeom>
          <a:solidFill>
            <a:schemeClr val="bg1">
              <a:lumMod val="95000"/>
            </a:schemeClr>
          </a:solid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3. Modeling :</a:t>
            </a:r>
          </a:p>
          <a:p>
            <a:pPr marL="285750" marR="0" lvl="0" indent="-285750" algn="l" defTabSz="914400" rtl="0" eaLnBrk="1" fontAlgn="base" latinLnBrk="0" hangingPunct="1">
              <a:lnSpc>
                <a:spcPct val="100000"/>
              </a:lnSpc>
              <a:spcBef>
                <a:spcPts val="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Definition</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Modeling involves creating architectural models and designs to better understand the problem and work towards the best solution.</a:t>
            </a:r>
          </a:p>
          <a:p>
            <a:pPr marL="285750" marR="0" lvl="0" indent="-285750" algn="l" defTabSz="914400" rtl="0" eaLnBrk="1" fontAlgn="base" latinLnBrk="0" hangingPunct="1">
              <a:lnSpc>
                <a:spcPct val="100000"/>
              </a:lnSpc>
              <a:spcBef>
                <a:spcPts val="0"/>
              </a:spcBef>
              <a:spcAft>
                <a:spcPts val="0"/>
              </a:spcAft>
              <a:buClrTx/>
              <a:buSzTx/>
              <a:buFont typeface="Arial" pitchFamily="34" charset="0"/>
              <a:buChar char="•"/>
              <a:tabLst/>
              <a:defRPr/>
            </a:pP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Modeling activity contains the creation of models that allow the developer &amp; the customer to better understand software requirements .</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Activities: Creation</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of model</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Analysis of Requirements</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Breaking down the gathered requirements to understand what the system needs to do.</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Design</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Creating architectural and detailed designs that outline how the software will be structured and how it will function.</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Explanation</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Modeling translates requirements into a visual and structured representation of the system. It helps in identifying the best design approach and serves as a blueprint for development.</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4. Construction :</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Definition</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Construction involves creating code, testing the system, fixing bugs.</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Activities</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a:t>
            </a: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Code Generation</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Writing the actual code based on the design models.</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Testing</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Running tests to ensure the software works as intended, identifying and fixing bugs.</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This phase is where the actual software is built. Testing is necessary to ensure that the code is error-free and that the software meets all specified requirements.</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5. Deployment :</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Definition</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Deployment involves presenting the product or software to customers for evaluation and feedback, then making necessary modifications based on their input.</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Activities</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To deliver a project</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Product Release</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Delivering the software to users, either as a full release or in stages.</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Feedback Collection</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Gathering feedback from users about their experience with the software.</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349E">
                    <a:lumMod val="50000"/>
                  </a:srgbClr>
                </a:solidFill>
                <a:effectLst/>
                <a:uLnTx/>
                <a:uFillTx/>
                <a:latin typeface="Calibri"/>
                <a:ea typeface="+mn-ea"/>
                <a:cs typeface="+mn-cs"/>
              </a:rPr>
              <a:t>Product Improvement</a:t>
            </a:r>
            <a:r>
              <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rPr>
              <a:t>: Making changes and improvements based on user feedback to enhance the product.</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349E">
                  <a:lumMod val="50000"/>
                </a:srgbClr>
              </a:solidFill>
              <a:effectLst/>
              <a:uLnTx/>
              <a:uFillTx/>
              <a:latin typeface="Calibri"/>
              <a:ea typeface="+mn-ea"/>
              <a:cs typeface="+mn-cs"/>
            </a:endParaRPr>
          </a:p>
        </p:txBody>
      </p:sp>
    </p:spTree>
    <p:extLst>
      <p:ext uri="{BB962C8B-B14F-4D97-AF65-F5344CB8AC3E}">
        <p14:creationId xmlns:p14="http://schemas.microsoft.com/office/powerpoint/2010/main" val="4237522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2192001" cy="6801862"/>
          </a:xfrm>
          <a:prstGeom prst="rect">
            <a:avLst/>
          </a:prstGeom>
          <a:solidFill>
            <a:schemeClr val="bg1">
              <a:lumMod val="95000"/>
            </a:schemeClr>
          </a:solid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661010"/>
                </a:solidFill>
                <a:effectLst/>
                <a:uLnTx/>
                <a:uFillTx/>
                <a:latin typeface="Calibri"/>
                <a:ea typeface="+mn-ea"/>
                <a:cs typeface="+mn-cs"/>
              </a:rPr>
              <a:t>Umbrella Activities :</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rgbClr val="661010"/>
              </a:solidFill>
              <a:effectLst/>
              <a:uLnTx/>
              <a:uFillTx/>
              <a:latin typeface="Calibri"/>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Cover or span across the entire software development process, just like an umbrella covers everything under it.</a:t>
            </a:r>
            <a:endParaRPr kumimoji="0" lang="en-US" sz="1800" b="1" i="0" u="none" strike="noStrike" kern="1200" cap="none" spc="0" normalizeH="0" baseline="0" noProof="0" dirty="0">
              <a:ln>
                <a:noFill/>
              </a:ln>
              <a:solidFill>
                <a:srgbClr val="C00000"/>
              </a:solidFill>
              <a:effectLst/>
              <a:uLnTx/>
              <a:uFillTx/>
              <a:latin typeface="Calibri"/>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a:ln>
                  <a:noFill/>
                </a:ln>
                <a:solidFill>
                  <a:prstClr val="black"/>
                </a:solidFill>
                <a:effectLst/>
                <a:uLnTx/>
                <a:uFillTx/>
                <a:latin typeface="Calibri"/>
                <a:ea typeface="+mn-ea"/>
                <a:cs typeface="+mn-cs"/>
              </a:rPr>
              <a:t>Umbrella Activities</a:t>
            </a:r>
            <a:r>
              <a:rPr kumimoji="0" lang="en-US" sz="1800" b="0" i="0" u="none" strike="noStrike" kern="1200" cap="none" spc="0" normalizeH="0" baseline="0" noProof="0" dirty="0">
                <a:ln>
                  <a:noFill/>
                </a:ln>
                <a:solidFill>
                  <a:prstClr val="black"/>
                </a:solidFill>
                <a:effectLst/>
                <a:uLnTx/>
                <a:uFillTx/>
                <a:latin typeface="Calibri"/>
                <a:ea typeface="+mn-ea"/>
                <a:cs typeface="+mn-cs"/>
              </a:rPr>
              <a:t> that take place during a </a:t>
            </a:r>
            <a:r>
              <a:rPr kumimoji="0" lang="en-US" sz="1800" b="0" i="0" u="sng" strike="noStrike" kern="1200" cap="none" spc="0" normalizeH="0" baseline="0" noProof="0" dirty="0">
                <a:ln>
                  <a:noFill/>
                </a:ln>
                <a:solidFill>
                  <a:prstClr val="black"/>
                </a:solidFill>
                <a:effectLst/>
                <a:uLnTx/>
                <a:uFillTx/>
                <a:latin typeface="Calibri"/>
                <a:ea typeface="+mn-ea"/>
                <a:cs typeface="+mn-cs"/>
              </a:rPr>
              <a:t>software development process</a:t>
            </a:r>
            <a:r>
              <a:rPr kumimoji="0" lang="en-US" sz="1800" b="0" i="0" u="none" strike="noStrike" kern="1200" cap="none" spc="0" normalizeH="0" baseline="0" noProof="0" dirty="0">
                <a:ln>
                  <a:noFill/>
                </a:ln>
                <a:solidFill>
                  <a:prstClr val="black"/>
                </a:solidFill>
                <a:effectLst/>
                <a:uLnTx/>
                <a:uFillTx/>
                <a:latin typeface="Calibri"/>
                <a:ea typeface="+mn-ea"/>
                <a:cs typeface="+mn-cs"/>
              </a:rPr>
              <a:t> for improved project management and tracking.</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Software project tracking and control: </a:t>
            </a:r>
            <a:r>
              <a:rPr kumimoji="0" lang="en-US" sz="1800" b="0" i="0" u="none" strike="noStrike" kern="1200" cap="none" spc="0" normalizeH="0" baseline="0" noProof="0" dirty="0">
                <a:ln>
                  <a:noFill/>
                </a:ln>
                <a:solidFill>
                  <a:prstClr val="black"/>
                </a:solidFill>
                <a:effectLst/>
                <a:uLnTx/>
                <a:uFillTx/>
                <a:latin typeface="Calibri"/>
                <a:ea typeface="+mn-ea"/>
                <a:cs typeface="+mn-cs"/>
              </a:rPr>
              <a:t>This is an activity in which the team can assess progress and take corrective action to maintain the schedule. Take action to keep the project on time by comparing the project's progress against the plan.</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Risk management: </a:t>
            </a:r>
            <a:r>
              <a:rPr kumimoji="0" lang="en-US" sz="1800" b="0" i="0" u="none" strike="noStrike" kern="1200" cap="none" spc="0" normalizeH="0" baseline="0" noProof="0" dirty="0">
                <a:ln>
                  <a:noFill/>
                </a:ln>
                <a:solidFill>
                  <a:prstClr val="black"/>
                </a:solidFill>
                <a:effectLst/>
                <a:uLnTx/>
                <a:uFillTx/>
                <a:latin typeface="Calibri"/>
                <a:ea typeface="+mn-ea"/>
                <a:cs typeface="+mn-cs"/>
              </a:rPr>
              <a:t>The risks that may affect project outcomes or quality can be analyzed. Analyze potential risks that may have an impact on the software product's quality and outcome.</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Software quality assurance:</a:t>
            </a:r>
            <a:r>
              <a:rPr kumimoji="0" lang="en-US" sz="1800" b="0" i="0" u="none" strike="noStrike" kern="1200" cap="none" spc="0" normalizeH="0" baseline="0" noProof="0" dirty="0">
                <a:ln>
                  <a:noFill/>
                </a:ln>
                <a:solidFill>
                  <a:prstClr val="black"/>
                </a:solidFill>
                <a:effectLst/>
                <a:uLnTx/>
                <a:uFillTx/>
                <a:latin typeface="Calibri"/>
                <a:ea typeface="+mn-ea"/>
                <a:cs typeface="+mn-cs"/>
              </a:rPr>
              <a:t> These are activities required to maintain software quality. Perform actions to ensure the product's quality.</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Formal technical reviews: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 </a:t>
            </a:r>
            <a:r>
              <a:rPr kumimoji="0" lang="en-US" sz="1800" b="1" i="0" u="none" strike="noStrike" kern="1200" cap="none" spc="0" normalizeH="0" baseline="0" noProof="0" dirty="0">
                <a:ln>
                  <a:noFill/>
                </a:ln>
                <a:solidFill>
                  <a:prstClr val="black"/>
                </a:solidFill>
                <a:effectLst/>
                <a:uLnTx/>
                <a:uFillTx/>
                <a:latin typeface="Calibri"/>
                <a:ea typeface="+mn-ea"/>
                <a:cs typeface="+mn-cs"/>
              </a:rPr>
              <a:t>Formal Technical Review (FTR)</a:t>
            </a:r>
            <a:r>
              <a:rPr kumimoji="0" lang="en-US" sz="1800" b="0" i="0" u="none" strike="noStrike" kern="1200" cap="none" spc="0" normalizeH="0" baseline="0" noProof="0" dirty="0">
                <a:ln>
                  <a:noFill/>
                </a:ln>
                <a:solidFill>
                  <a:prstClr val="black"/>
                </a:solidFill>
                <a:effectLst/>
                <a:uLnTx/>
                <a:uFillTx/>
                <a:latin typeface="Calibri"/>
                <a:ea typeface="+mn-ea"/>
                <a:cs typeface="+mn-cs"/>
              </a:rPr>
              <a:t> is a </a:t>
            </a:r>
            <a:r>
              <a:rPr kumimoji="0" lang="en-US" sz="1800" b="1" i="0" u="none" strike="noStrike" kern="1200" cap="none" spc="0" normalizeH="0" baseline="0" noProof="0" dirty="0">
                <a:ln>
                  <a:noFill/>
                </a:ln>
                <a:solidFill>
                  <a:prstClr val="black"/>
                </a:solidFill>
                <a:effectLst/>
                <a:uLnTx/>
                <a:uFillTx/>
                <a:latin typeface="Calibri"/>
                <a:ea typeface="+mn-ea"/>
                <a:cs typeface="+mn-cs"/>
              </a:rPr>
              <a:t>structured and planned meeting</a:t>
            </a:r>
            <a:r>
              <a:rPr kumimoji="0" lang="en-US" sz="1800" b="0" i="0" u="none" strike="noStrike" kern="1200" cap="none" spc="0" normalizeH="0" baseline="0" noProof="0" dirty="0">
                <a:ln>
                  <a:noFill/>
                </a:ln>
                <a:solidFill>
                  <a:prstClr val="black"/>
                </a:solidFill>
                <a:effectLst/>
                <a:uLnTx/>
                <a:uFillTx/>
                <a:latin typeface="Calibri"/>
                <a:ea typeface="+mn-ea"/>
                <a:cs typeface="+mn-cs"/>
              </a:rPr>
              <a:t> where a team of software engineers examines </a:t>
            </a:r>
            <a:r>
              <a:rPr kumimoji="0" lang="en-US" sz="1800" b="1" i="0" u="none" strike="noStrike" kern="1200" cap="none" spc="0" normalizeH="0" baseline="0" noProof="0" dirty="0">
                <a:ln>
                  <a:noFill/>
                </a:ln>
                <a:solidFill>
                  <a:prstClr val="black"/>
                </a:solidFill>
                <a:effectLst/>
                <a:uLnTx/>
                <a:uFillTx/>
                <a:latin typeface="Calibri"/>
                <a:ea typeface="+mn-ea"/>
                <a:cs typeface="+mn-cs"/>
              </a:rPr>
              <a:t>software products or processes</a:t>
            </a:r>
            <a:r>
              <a:rPr kumimoji="0" lang="en-US" sz="1800" b="0" i="0" u="none" strike="noStrike" kern="1200" cap="none" spc="0" normalizeH="0" baseline="0" noProof="0" dirty="0">
                <a:ln>
                  <a:noFill/>
                </a:ln>
                <a:solidFill>
                  <a:prstClr val="black"/>
                </a:solidFill>
                <a:effectLst/>
                <a:uLnTx/>
                <a:uFillTx/>
                <a:latin typeface="Calibri"/>
                <a:ea typeface="+mn-ea"/>
                <a:cs typeface="+mn-cs"/>
              </a:rPr>
              <a:t> to ensure: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Correctness</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 Quality</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 Consistency with standards</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 Error detection early in development</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It is required to assess engineering work products to uncover and remove errors before they propagate to the next activity. At each level of the process, errors are evaluated and fixed.</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63582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1339"/>
            <a:ext cx="12192000" cy="6186309"/>
          </a:xfrm>
          <a:prstGeom prst="rect">
            <a:avLst/>
          </a:prstGeom>
          <a:solidFill>
            <a:schemeClr val="bg1">
              <a:lumMod val="95000"/>
            </a:schemeClr>
          </a:solid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Software configuration management: </a:t>
            </a:r>
            <a:r>
              <a:rPr kumimoji="0" lang="en-US" sz="1800" b="0" i="0" u="none" strike="noStrike" kern="1200" cap="none" spc="0" normalizeH="0" baseline="0" noProof="0" dirty="0">
                <a:ln>
                  <a:noFill/>
                </a:ln>
                <a:solidFill>
                  <a:prstClr val="black"/>
                </a:solidFill>
                <a:effectLst/>
                <a:uLnTx/>
                <a:uFillTx/>
                <a:latin typeface="Calibri"/>
                <a:ea typeface="+mn-ea"/>
                <a:cs typeface="+mn-cs"/>
              </a:rPr>
              <a:t>Managing of configuration process when any change in the software occurs.</a:t>
            </a:r>
            <a:r>
              <a:rPr kumimoji="0" lang="en-US" sz="1800" b="1" i="0" u="none"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a:ln>
                  <a:noFill/>
                </a:ln>
                <a:solidFill>
                  <a:prstClr val="black"/>
                </a:solidFill>
                <a:effectLst/>
                <a:uLnTx/>
                <a:uFillTx/>
                <a:latin typeface="Calibri"/>
                <a:ea typeface="+mn-ea"/>
                <a:cs typeface="+mn-cs"/>
              </a:rPr>
              <a:t>it is a process in software engineering that focuses on </a:t>
            </a:r>
            <a:r>
              <a:rPr kumimoji="0" lang="en-US" sz="1800" b="1" i="0" u="none" strike="noStrike" kern="1200" cap="none" spc="0" normalizeH="0" baseline="0" noProof="0" dirty="0">
                <a:ln>
                  <a:noFill/>
                </a:ln>
                <a:solidFill>
                  <a:prstClr val="black"/>
                </a:solidFill>
                <a:effectLst/>
                <a:uLnTx/>
                <a:uFillTx/>
                <a:latin typeface="Calibri"/>
                <a:ea typeface="+mn-ea"/>
                <a:cs typeface="+mn-cs"/>
              </a:rPr>
              <a:t>controlling and tracking changes</a:t>
            </a:r>
            <a:r>
              <a:rPr kumimoji="0" lang="en-US" sz="1800" b="0" i="0" u="none" strike="noStrike" kern="1200" cap="none" spc="0" normalizeH="0" baseline="0" noProof="0" dirty="0">
                <a:ln>
                  <a:noFill/>
                </a:ln>
                <a:solidFill>
                  <a:prstClr val="black"/>
                </a:solidFill>
                <a:effectLst/>
                <a:uLnTx/>
                <a:uFillTx/>
                <a:latin typeface="Calibri"/>
                <a:ea typeface="+mn-ea"/>
                <a:cs typeface="+mn-cs"/>
              </a:rPr>
              <a:t> in the software.</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Work product preparation and production:</a:t>
            </a:r>
            <a:r>
              <a:rPr kumimoji="0" lang="en-US" sz="1800" b="0" i="0" u="none" strike="noStrike" kern="1200" cap="none" spc="0" normalizeH="0" baseline="0" noProof="0" dirty="0">
                <a:ln>
                  <a:noFill/>
                </a:ln>
                <a:solidFill>
                  <a:prstClr val="black"/>
                </a:solidFill>
                <a:effectLst/>
                <a:uLnTx/>
                <a:uFillTx/>
                <a:latin typeface="Calibri"/>
                <a:ea typeface="+mn-ea"/>
                <a:cs typeface="+mn-cs"/>
              </a:rPr>
              <a:t> Work products are physical results of software engineering tasks. Examples include: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Requirements documents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Design models (UML diagrams, flowcharts)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Source code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Test plans and cases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Project logs and reports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forms, or configuration files</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Reusability management: </a:t>
            </a:r>
            <a:r>
              <a:rPr kumimoji="0" lang="en-US" sz="1800" b="0" i="0" u="none" strike="noStrike" kern="1200" cap="none" spc="0" normalizeH="0" baseline="0" noProof="0" dirty="0">
                <a:ln>
                  <a:noFill/>
                </a:ln>
                <a:solidFill>
                  <a:prstClr val="black"/>
                </a:solidFill>
                <a:effectLst/>
                <a:uLnTx/>
                <a:uFillTx/>
                <a:latin typeface="Calibri"/>
                <a:ea typeface="+mn-ea"/>
                <a:cs typeface="+mn-cs"/>
              </a:rPr>
              <a:t>It defines criteria for work product reuse. Reusable work items should be backed up, and reusable software components should be achieved.</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Measurement:</a:t>
            </a:r>
            <a:r>
              <a:rPr kumimoji="0" lang="en-US" sz="1800" b="0" i="0" u="none" strike="noStrike" kern="1200" cap="none" spc="0" normalizeH="0" baseline="0" noProof="0" dirty="0">
                <a:ln>
                  <a:noFill/>
                </a:ln>
                <a:solidFill>
                  <a:prstClr val="black"/>
                </a:solidFill>
                <a:effectLst/>
                <a:uLnTx/>
                <a:uFillTx/>
                <a:latin typeface="Calibri"/>
                <a:ea typeface="+mn-ea"/>
                <a:cs typeface="+mn-cs"/>
              </a:rPr>
              <a:t> The </a:t>
            </a:r>
            <a:r>
              <a:rPr kumimoji="0" lang="en-US" sz="1800" b="1" i="0" u="none" strike="noStrike" kern="1200" cap="none" spc="0" normalizeH="0" baseline="0" noProof="0" dirty="0">
                <a:ln>
                  <a:noFill/>
                </a:ln>
                <a:solidFill>
                  <a:prstClr val="black"/>
                </a:solidFill>
                <a:effectLst/>
                <a:uLnTx/>
                <a:uFillTx/>
                <a:latin typeface="Calibri"/>
                <a:ea typeface="+mn-ea"/>
                <a:cs typeface="+mn-cs"/>
              </a:rPr>
              <a:t>process of collecting and analyzing data</a:t>
            </a:r>
            <a:r>
              <a:rPr kumimoji="0" lang="en-US" sz="1800" b="0" i="0" u="none" strike="noStrike" kern="1200" cap="none" spc="0" normalizeH="0" baseline="0" noProof="0" dirty="0">
                <a:ln>
                  <a:noFill/>
                </a:ln>
                <a:solidFill>
                  <a:prstClr val="black"/>
                </a:solidFill>
                <a:effectLst/>
                <a:uLnTx/>
                <a:uFillTx/>
                <a:latin typeface="Calibri"/>
                <a:ea typeface="+mn-ea"/>
                <a:cs typeface="+mn-cs"/>
              </a:rPr>
              <a:t> related to software processes, products, and projects to support </a:t>
            </a:r>
            <a:r>
              <a:rPr kumimoji="0" lang="en-US" sz="1800" b="1" i="0" u="none" strike="noStrike" kern="1200" cap="none" spc="0" normalizeH="0" baseline="0" noProof="0" dirty="0">
                <a:ln>
                  <a:noFill/>
                </a:ln>
                <a:solidFill>
                  <a:prstClr val="black"/>
                </a:solidFill>
                <a:effectLst/>
                <a:uLnTx/>
                <a:uFillTx/>
                <a:latin typeface="Calibri"/>
                <a:ea typeface="+mn-ea"/>
                <a:cs typeface="+mn-cs"/>
              </a:rPr>
              <a:t>better planning, tracking, and improvement</a:t>
            </a:r>
            <a:r>
              <a:rPr kumimoji="0" lang="en-US" sz="1800" b="0" i="0" u="none" strike="noStrike" kern="1200" cap="none" spc="0" normalizeH="0" baseline="0" noProof="0" dirty="0">
                <a:ln>
                  <a:noFill/>
                </a:ln>
                <a:solidFill>
                  <a:prstClr val="black"/>
                </a:solidFill>
                <a:effectLst/>
                <a:uLnTx/>
                <a:uFillTx/>
                <a:latin typeface="Calibri"/>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Purpose:</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To </a:t>
            </a:r>
            <a:r>
              <a:rPr kumimoji="0" lang="en-US" sz="1800" b="1" i="0" u="none" strike="noStrike" kern="1200" cap="none" spc="0" normalizeH="0" baseline="0" noProof="0" dirty="0">
                <a:ln>
                  <a:noFill/>
                </a:ln>
                <a:solidFill>
                  <a:prstClr val="black"/>
                </a:solidFill>
                <a:effectLst/>
                <a:uLnTx/>
                <a:uFillTx/>
                <a:latin typeface="Calibri"/>
                <a:ea typeface="+mn-ea"/>
                <a:cs typeface="+mn-cs"/>
              </a:rPr>
              <a:t>monitor progress</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To </a:t>
            </a:r>
            <a:r>
              <a:rPr kumimoji="0" lang="en-US" sz="1800" b="1" i="0" u="none" strike="noStrike" kern="1200" cap="none" spc="0" normalizeH="0" baseline="0" noProof="0" dirty="0">
                <a:ln>
                  <a:noFill/>
                </a:ln>
                <a:solidFill>
                  <a:prstClr val="black"/>
                </a:solidFill>
                <a:effectLst/>
                <a:uLnTx/>
                <a:uFillTx/>
                <a:latin typeface="Calibri"/>
                <a:ea typeface="+mn-ea"/>
                <a:cs typeface="+mn-cs"/>
              </a:rPr>
              <a:t>evaluate quality</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To </a:t>
            </a:r>
            <a:r>
              <a:rPr kumimoji="0" lang="en-US" sz="1800" b="1" i="0" u="none" strike="noStrike" kern="1200" cap="none" spc="0" normalizeH="0" baseline="0" noProof="0" dirty="0">
                <a:ln>
                  <a:noFill/>
                </a:ln>
                <a:solidFill>
                  <a:prstClr val="black"/>
                </a:solidFill>
                <a:effectLst/>
                <a:uLnTx/>
                <a:uFillTx/>
                <a:latin typeface="Calibri"/>
                <a:ea typeface="+mn-ea"/>
                <a:cs typeface="+mn-cs"/>
              </a:rPr>
              <a:t>predict cost, effort, and time</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To </a:t>
            </a:r>
            <a:r>
              <a:rPr kumimoji="0" lang="en-US" sz="1800" b="1" i="0" u="none" strike="noStrike" kern="1200" cap="none" spc="0" normalizeH="0" baseline="0" noProof="0" dirty="0">
                <a:ln>
                  <a:noFill/>
                </a:ln>
                <a:solidFill>
                  <a:prstClr val="black"/>
                </a:solidFill>
                <a:effectLst/>
                <a:uLnTx/>
                <a:uFillTx/>
                <a:latin typeface="Calibri"/>
                <a:ea typeface="+mn-ea"/>
                <a:cs typeface="+mn-cs"/>
              </a:rPr>
              <a:t>identify risks early</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To support </a:t>
            </a:r>
            <a:r>
              <a:rPr kumimoji="0" lang="en-US" sz="1800" b="1" i="0" u="none" strike="noStrike" kern="1200" cap="none" spc="0" normalizeH="0" baseline="0" noProof="0" dirty="0">
                <a:ln>
                  <a:noFill/>
                </a:ln>
                <a:solidFill>
                  <a:prstClr val="black"/>
                </a:solidFill>
                <a:effectLst/>
                <a:uLnTx/>
                <a:uFillTx/>
                <a:latin typeface="Calibri"/>
                <a:ea typeface="+mn-ea"/>
                <a:cs typeface="+mn-cs"/>
              </a:rPr>
              <a:t>decision-making</a:t>
            </a:r>
          </a:p>
        </p:txBody>
      </p:sp>
    </p:spTree>
    <p:extLst>
      <p:ext uri="{BB962C8B-B14F-4D97-AF65-F5344CB8AC3E}">
        <p14:creationId xmlns:p14="http://schemas.microsoft.com/office/powerpoint/2010/main" val="3139531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646331"/>
            <a:ext cx="12192000" cy="344709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srgbClr val="C00000"/>
                </a:solidFill>
                <a:effectLst/>
                <a:uLnTx/>
                <a:uFillTx/>
                <a:latin typeface="Calibri"/>
                <a:ea typeface="+mn-ea"/>
                <a:cs typeface="+mn-cs"/>
              </a:rPr>
              <a:t>A Software development framework </a:t>
            </a:r>
            <a:r>
              <a:rPr kumimoji="0" lang="en-US" sz="1800" b="0" i="0" u="none" strike="noStrike" kern="1200" cap="none" spc="0" normalizeH="0" baseline="0" noProof="0" dirty="0">
                <a:ln>
                  <a:noFill/>
                </a:ln>
                <a:solidFill>
                  <a:prstClr val="black"/>
                </a:solidFill>
                <a:effectLst/>
                <a:uLnTx/>
                <a:uFillTx/>
                <a:latin typeface="Calibri"/>
                <a:ea typeface="+mn-ea"/>
                <a:cs typeface="+mn-cs"/>
              </a:rPr>
              <a:t>is a pre-built structure or collection of tools , libraries &amp; guidelines that developers use to create software application efficiently.</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It acts as an abstraction that hides internal complexities and provides application-specific functionality.</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Offers a standard way to build and deploy applications.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9C007F">
                    <a:lumMod val="75000"/>
                  </a:srgbClr>
                </a:solidFill>
                <a:effectLst/>
                <a:uLnTx/>
                <a:uFillTx/>
                <a:latin typeface="Calibri"/>
                <a:ea typeface="+mn-ea"/>
                <a:cs typeface="+mn-cs"/>
              </a:rPr>
              <a:t>🔹 Why It’s Important:</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Guides the </a:t>
            </a:r>
            <a:r>
              <a:rPr kumimoji="0" lang="en-US" sz="1800" b="1" i="0" u="none" strike="noStrike" kern="1200" cap="none" spc="0" normalizeH="0" baseline="0" noProof="0" dirty="0">
                <a:ln>
                  <a:noFill/>
                </a:ln>
                <a:solidFill>
                  <a:prstClr val="black"/>
                </a:solidFill>
                <a:effectLst/>
                <a:uLnTx/>
                <a:uFillTx/>
                <a:latin typeface="Calibri"/>
                <a:ea typeface="+mn-ea"/>
                <a:cs typeface="+mn-cs"/>
              </a:rPr>
              <a:t>development</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1" i="0" u="none" strike="noStrike" kern="1200" cap="none" spc="0" normalizeH="0" baseline="0" noProof="0" dirty="0">
                <a:ln>
                  <a:noFill/>
                </a:ln>
                <a:solidFill>
                  <a:prstClr val="black"/>
                </a:solidFill>
                <a:effectLst/>
                <a:uLnTx/>
                <a:uFillTx/>
                <a:latin typeface="Calibri"/>
                <a:ea typeface="+mn-ea"/>
                <a:cs typeface="+mn-cs"/>
              </a:rPr>
              <a:t>deployment</a:t>
            </a:r>
            <a:r>
              <a:rPr kumimoji="0" lang="en-US" sz="1800" b="0" i="0" u="none" strike="noStrike" kern="1200" cap="none" spc="0" normalizeH="0" baseline="0" noProof="0" dirty="0">
                <a:ln>
                  <a:noFill/>
                </a:ln>
                <a:solidFill>
                  <a:prstClr val="black"/>
                </a:solidFill>
                <a:effectLst/>
                <a:uLnTx/>
                <a:uFillTx/>
                <a:latin typeface="Calibri"/>
                <a:ea typeface="+mn-ea"/>
                <a:cs typeface="+mn-cs"/>
              </a:rPr>
              <a:t>, and </a:t>
            </a:r>
            <a:r>
              <a:rPr kumimoji="0" lang="en-US" sz="1800" b="1" i="0" u="none" strike="noStrike" kern="1200" cap="none" spc="0" normalizeH="0" baseline="0" noProof="0" dirty="0">
                <a:ln>
                  <a:noFill/>
                </a:ln>
                <a:solidFill>
                  <a:prstClr val="black"/>
                </a:solidFill>
                <a:effectLst/>
                <a:uLnTx/>
                <a:uFillTx/>
                <a:latin typeface="Calibri"/>
                <a:ea typeface="+mn-ea"/>
                <a:cs typeface="+mn-cs"/>
              </a:rPr>
              <a:t>maintenance</a:t>
            </a:r>
            <a:r>
              <a:rPr kumimoji="0" lang="en-US" sz="1800" b="0" i="0" u="none" strike="noStrike" kern="1200" cap="none" spc="0" normalizeH="0" baseline="0" noProof="0" dirty="0">
                <a:ln>
                  <a:noFill/>
                </a:ln>
                <a:solidFill>
                  <a:prstClr val="black"/>
                </a:solidFill>
                <a:effectLst/>
                <a:uLnTx/>
                <a:uFillTx/>
                <a:latin typeface="Calibri"/>
                <a:ea typeface="+mn-ea"/>
                <a:cs typeface="+mn-cs"/>
              </a:rPr>
              <a:t> of software systems.</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Ensures </a:t>
            </a:r>
            <a:r>
              <a:rPr kumimoji="0" lang="en-US" sz="1800" b="1" i="0" u="none" strike="noStrike" kern="1200" cap="none" spc="0" normalizeH="0" baseline="0" noProof="0" dirty="0">
                <a:ln>
                  <a:noFill/>
                </a:ln>
                <a:solidFill>
                  <a:prstClr val="black"/>
                </a:solidFill>
                <a:effectLst/>
                <a:uLnTx/>
                <a:uFillTx/>
                <a:latin typeface="Calibri"/>
                <a:ea typeface="+mn-ea"/>
                <a:cs typeface="+mn-cs"/>
              </a:rPr>
              <a:t>quality</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1" i="0" u="none" strike="noStrike" kern="1200" cap="none" spc="0" normalizeH="0" baseline="0" noProof="0" dirty="0">
                <a:ln>
                  <a:noFill/>
                </a:ln>
                <a:solidFill>
                  <a:prstClr val="black"/>
                </a:solidFill>
                <a:effectLst/>
                <a:uLnTx/>
                <a:uFillTx/>
                <a:latin typeface="Calibri"/>
                <a:ea typeface="+mn-ea"/>
                <a:cs typeface="+mn-cs"/>
              </a:rPr>
              <a:t>consistency</a:t>
            </a:r>
            <a:r>
              <a:rPr kumimoji="0" lang="en-US" sz="1800" b="0" i="0" u="none" strike="noStrike" kern="1200" cap="none" spc="0" normalizeH="0" baseline="0" noProof="0" dirty="0">
                <a:ln>
                  <a:noFill/>
                </a:ln>
                <a:solidFill>
                  <a:prstClr val="black"/>
                </a:solidFill>
                <a:effectLst/>
                <a:uLnTx/>
                <a:uFillTx/>
                <a:latin typeface="Calibri"/>
                <a:ea typeface="+mn-ea"/>
                <a:cs typeface="+mn-cs"/>
              </a:rPr>
              <a:t>, and </a:t>
            </a:r>
            <a:r>
              <a:rPr kumimoji="0" lang="en-US" sz="1800" b="1" i="0" u="none" strike="noStrike" kern="1200" cap="none" spc="0" normalizeH="0" baseline="0" noProof="0" dirty="0">
                <a:ln>
                  <a:noFill/>
                </a:ln>
                <a:solidFill>
                  <a:prstClr val="black"/>
                </a:solidFill>
                <a:effectLst/>
                <a:uLnTx/>
                <a:uFillTx/>
                <a:latin typeface="Calibri"/>
                <a:ea typeface="+mn-ea"/>
                <a:cs typeface="+mn-cs"/>
              </a:rPr>
              <a:t>efficiency</a:t>
            </a:r>
            <a:r>
              <a:rPr kumimoji="0" lang="en-US" sz="1800" b="0" i="0" u="none" strike="noStrike" kern="1200" cap="none" spc="0" normalizeH="0" baseline="0" noProof="0" dirty="0">
                <a:ln>
                  <a:noFill/>
                </a:ln>
                <a:solidFill>
                  <a:prstClr val="black"/>
                </a:solidFill>
                <a:effectLst/>
                <a:uLnTx/>
                <a:uFillTx/>
                <a:latin typeface="Calibri"/>
                <a:ea typeface="+mn-ea"/>
                <a:cs typeface="+mn-cs"/>
              </a:rPr>
              <a:t> across the software development lifecycle.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TextBox 3"/>
          <p:cNvSpPr txBox="1"/>
          <p:nvPr/>
        </p:nvSpPr>
        <p:spPr>
          <a:xfrm>
            <a:off x="0" y="0"/>
            <a:ext cx="11942284" cy="646331"/>
          </a:xfrm>
          <a:prstGeom prst="rect">
            <a:avLst/>
          </a:prstGeom>
          <a:solidFill>
            <a:schemeClr val="tx2">
              <a:lumMod val="5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a:ea typeface="+mn-ea"/>
                <a:cs typeface="+mn-cs"/>
              </a:rPr>
              <a:t>Software Development Framework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a:ea typeface="+mn-ea"/>
              <a:cs typeface="+mn-cs"/>
            </a:endParaRPr>
          </a:p>
        </p:txBody>
      </p:sp>
      <p:graphicFrame>
        <p:nvGraphicFramePr>
          <p:cNvPr id="15" name="Table 14"/>
          <p:cNvGraphicFramePr>
            <a:graphicFrameLocks noGrp="1"/>
          </p:cNvGraphicFramePr>
          <p:nvPr/>
        </p:nvGraphicFramePr>
        <p:xfrm>
          <a:off x="31531" y="3216165"/>
          <a:ext cx="11910753" cy="3467482"/>
        </p:xfrm>
        <a:graphic>
          <a:graphicData uri="http://schemas.openxmlformats.org/drawingml/2006/table">
            <a:tbl>
              <a:tblPr/>
              <a:tblGrid>
                <a:gridCol w="5946435">
                  <a:extLst>
                    <a:ext uri="{9D8B030D-6E8A-4147-A177-3AD203B41FA5}">
                      <a16:colId xmlns:a16="http://schemas.microsoft.com/office/drawing/2014/main" val="20000"/>
                    </a:ext>
                  </a:extLst>
                </a:gridCol>
                <a:gridCol w="5964318">
                  <a:extLst>
                    <a:ext uri="{9D8B030D-6E8A-4147-A177-3AD203B41FA5}">
                      <a16:colId xmlns:a16="http://schemas.microsoft.com/office/drawing/2014/main" val="20001"/>
                    </a:ext>
                  </a:extLst>
                </a:gridCol>
              </a:tblGrid>
              <a:tr h="765566">
                <a:tc>
                  <a:txBody>
                    <a:bodyPr/>
                    <a:lstStyle/>
                    <a:p>
                      <a:r>
                        <a:rPr lang="en-US" b="1" dirty="0">
                          <a:solidFill>
                            <a:schemeClr val="accent6">
                              <a:lumMod val="50000"/>
                            </a:schemeClr>
                          </a:solidFill>
                        </a:rPr>
                        <a:t>Development Phase</a:t>
                      </a:r>
                    </a:p>
                  </a:txBody>
                  <a:tcPr anchor="ctr">
                    <a:lnL>
                      <a:noFill/>
                    </a:lnL>
                    <a:lnR>
                      <a:noFill/>
                    </a:lnR>
                    <a:lnT>
                      <a:noFill/>
                    </a:lnT>
                    <a:lnB>
                      <a:noFill/>
                    </a:lnB>
                  </a:tcPr>
                </a:tc>
                <a:tc>
                  <a:txBody>
                    <a:bodyPr/>
                    <a:lstStyle/>
                    <a:p>
                      <a:r>
                        <a:rPr lang="en-US" b="1" dirty="0">
                          <a:solidFill>
                            <a:schemeClr val="accent6">
                              <a:lumMod val="50000"/>
                            </a:schemeClr>
                          </a:solidFill>
                        </a:rPr>
                        <a:t>Description</a:t>
                      </a:r>
                    </a:p>
                  </a:txBody>
                  <a:tcPr anchor="ctr">
                    <a:lnL>
                      <a:noFill/>
                    </a:lnL>
                    <a:lnR>
                      <a:noFill/>
                    </a:lnR>
                    <a:lnT>
                      <a:noFill/>
                    </a:lnT>
                    <a:lnB>
                      <a:noFill/>
                    </a:lnB>
                  </a:tcPr>
                </a:tc>
                <a:extLst>
                  <a:ext uri="{0D108BD9-81ED-4DB2-BD59-A6C34878D82A}">
                    <a16:rowId xmlns:a16="http://schemas.microsoft.com/office/drawing/2014/main" val="10000"/>
                  </a:ext>
                </a:extLst>
              </a:tr>
              <a:tr h="0">
                <a:tc>
                  <a:txBody>
                    <a:bodyPr/>
                    <a:lstStyle/>
                    <a:p>
                      <a:r>
                        <a:rPr lang="en-US" b="1" dirty="0"/>
                        <a:t>Requirements Definition</a:t>
                      </a:r>
                    </a:p>
                  </a:txBody>
                  <a:tcPr anchor="ctr">
                    <a:lnL>
                      <a:noFill/>
                    </a:lnL>
                    <a:lnR>
                      <a:noFill/>
                    </a:lnR>
                    <a:lnT>
                      <a:noFill/>
                    </a:lnT>
                    <a:lnB>
                      <a:noFill/>
                    </a:lnB>
                    <a:solidFill>
                      <a:schemeClr val="accent1">
                        <a:lumMod val="20000"/>
                        <a:lumOff val="80000"/>
                      </a:schemeClr>
                    </a:solidFill>
                  </a:tcPr>
                </a:tc>
                <a:tc>
                  <a:txBody>
                    <a:bodyPr/>
                    <a:lstStyle/>
                    <a:p>
                      <a:r>
                        <a:rPr lang="en-US"/>
                        <a:t>Understanding what the software should do</a:t>
                      </a:r>
                    </a:p>
                  </a:txBody>
                  <a:tcPr anchor="ctr">
                    <a:lnL>
                      <a:noFill/>
                    </a:lnL>
                    <a:lnR>
                      <a:noFill/>
                    </a:lnR>
                    <a:lnT>
                      <a:noFill/>
                    </a:lnT>
                    <a:lnB>
                      <a:noFill/>
                    </a:lnB>
                  </a:tcPr>
                </a:tc>
                <a:extLst>
                  <a:ext uri="{0D108BD9-81ED-4DB2-BD59-A6C34878D82A}">
                    <a16:rowId xmlns:a16="http://schemas.microsoft.com/office/drawing/2014/main" val="10001"/>
                  </a:ext>
                </a:extLst>
              </a:tr>
              <a:tr h="0">
                <a:tc>
                  <a:txBody>
                    <a:bodyPr/>
                    <a:lstStyle/>
                    <a:p>
                      <a:r>
                        <a:rPr lang="en-US" b="1" dirty="0"/>
                        <a:t>Architecture Definition</a:t>
                      </a:r>
                    </a:p>
                  </a:txBody>
                  <a:tcPr anchor="ctr">
                    <a:lnL>
                      <a:noFill/>
                    </a:lnL>
                    <a:lnR>
                      <a:noFill/>
                    </a:lnR>
                    <a:lnT>
                      <a:noFill/>
                    </a:lnT>
                    <a:lnB>
                      <a:noFill/>
                    </a:lnB>
                    <a:solidFill>
                      <a:schemeClr val="accent1">
                        <a:lumMod val="20000"/>
                        <a:lumOff val="80000"/>
                      </a:schemeClr>
                    </a:solidFill>
                  </a:tcPr>
                </a:tc>
                <a:tc>
                  <a:txBody>
                    <a:bodyPr/>
                    <a:lstStyle/>
                    <a:p>
                      <a:r>
                        <a:rPr lang="en-US"/>
                        <a:t>Planning the software's overall structure</a:t>
                      </a:r>
                    </a:p>
                  </a:txBody>
                  <a:tcPr anchor="ctr">
                    <a:lnL>
                      <a:noFill/>
                    </a:lnL>
                    <a:lnR>
                      <a:noFill/>
                    </a:lnR>
                    <a:lnT>
                      <a:noFill/>
                    </a:lnT>
                    <a:lnB>
                      <a:noFill/>
                    </a:lnB>
                  </a:tcPr>
                </a:tc>
                <a:extLst>
                  <a:ext uri="{0D108BD9-81ED-4DB2-BD59-A6C34878D82A}">
                    <a16:rowId xmlns:a16="http://schemas.microsoft.com/office/drawing/2014/main" val="10002"/>
                  </a:ext>
                </a:extLst>
              </a:tr>
              <a:tr h="0">
                <a:tc>
                  <a:txBody>
                    <a:bodyPr/>
                    <a:lstStyle/>
                    <a:p>
                      <a:r>
                        <a:rPr lang="en-US" b="1" dirty="0"/>
                        <a:t>Design</a:t>
                      </a:r>
                    </a:p>
                  </a:txBody>
                  <a:tcPr anchor="ctr">
                    <a:lnL>
                      <a:noFill/>
                    </a:lnL>
                    <a:lnR>
                      <a:noFill/>
                    </a:lnR>
                    <a:lnT>
                      <a:noFill/>
                    </a:lnT>
                    <a:lnB>
                      <a:noFill/>
                    </a:lnB>
                    <a:solidFill>
                      <a:schemeClr val="accent1">
                        <a:lumMod val="20000"/>
                        <a:lumOff val="80000"/>
                      </a:schemeClr>
                    </a:solidFill>
                  </a:tcPr>
                </a:tc>
                <a:tc>
                  <a:txBody>
                    <a:bodyPr/>
                    <a:lstStyle/>
                    <a:p>
                      <a:r>
                        <a:rPr lang="en-US"/>
                        <a:t>Creating detailed design documents</a:t>
                      </a:r>
                    </a:p>
                  </a:txBody>
                  <a:tcPr anchor="ctr">
                    <a:lnL>
                      <a:noFill/>
                    </a:lnL>
                    <a:lnR>
                      <a:noFill/>
                    </a:lnR>
                    <a:lnT>
                      <a:noFill/>
                    </a:lnT>
                    <a:lnB>
                      <a:noFill/>
                    </a:lnB>
                  </a:tcPr>
                </a:tc>
                <a:extLst>
                  <a:ext uri="{0D108BD9-81ED-4DB2-BD59-A6C34878D82A}">
                    <a16:rowId xmlns:a16="http://schemas.microsoft.com/office/drawing/2014/main" val="10003"/>
                  </a:ext>
                </a:extLst>
              </a:tr>
              <a:tr h="0">
                <a:tc>
                  <a:txBody>
                    <a:bodyPr/>
                    <a:lstStyle/>
                    <a:p>
                      <a:r>
                        <a:rPr lang="en-US" b="1" dirty="0"/>
                        <a:t>Implementation</a:t>
                      </a:r>
                    </a:p>
                  </a:txBody>
                  <a:tcPr anchor="ctr">
                    <a:lnL>
                      <a:noFill/>
                    </a:lnL>
                    <a:lnR>
                      <a:noFill/>
                    </a:lnR>
                    <a:lnT>
                      <a:noFill/>
                    </a:lnT>
                    <a:lnB>
                      <a:noFill/>
                    </a:lnB>
                    <a:solidFill>
                      <a:schemeClr val="accent1">
                        <a:lumMod val="20000"/>
                        <a:lumOff val="80000"/>
                      </a:schemeClr>
                    </a:solidFill>
                  </a:tcPr>
                </a:tc>
                <a:tc>
                  <a:txBody>
                    <a:bodyPr/>
                    <a:lstStyle/>
                    <a:p>
                      <a:r>
                        <a:rPr lang="en-US"/>
                        <a:t>Writing and testing the code</a:t>
                      </a:r>
                    </a:p>
                  </a:txBody>
                  <a:tcPr anchor="ctr">
                    <a:lnL>
                      <a:noFill/>
                    </a:lnL>
                    <a:lnR>
                      <a:noFill/>
                    </a:lnR>
                    <a:lnT>
                      <a:noFill/>
                    </a:lnT>
                    <a:lnB>
                      <a:noFill/>
                    </a:lnB>
                  </a:tcPr>
                </a:tc>
                <a:extLst>
                  <a:ext uri="{0D108BD9-81ED-4DB2-BD59-A6C34878D82A}">
                    <a16:rowId xmlns:a16="http://schemas.microsoft.com/office/drawing/2014/main" val="10004"/>
                  </a:ext>
                </a:extLst>
              </a:tr>
              <a:tr h="0">
                <a:tc>
                  <a:txBody>
                    <a:bodyPr/>
                    <a:lstStyle/>
                    <a:p>
                      <a:r>
                        <a:rPr lang="en-US" b="1" dirty="0"/>
                        <a:t>Integration</a:t>
                      </a:r>
                    </a:p>
                  </a:txBody>
                  <a:tcPr anchor="ctr">
                    <a:lnL>
                      <a:noFill/>
                    </a:lnL>
                    <a:lnR>
                      <a:noFill/>
                    </a:lnR>
                    <a:lnT>
                      <a:noFill/>
                    </a:lnT>
                    <a:lnB>
                      <a:noFill/>
                    </a:lnB>
                    <a:solidFill>
                      <a:schemeClr val="accent1">
                        <a:lumMod val="20000"/>
                        <a:lumOff val="80000"/>
                      </a:schemeClr>
                    </a:solidFill>
                  </a:tcPr>
                </a:tc>
                <a:tc>
                  <a:txBody>
                    <a:bodyPr/>
                    <a:lstStyle/>
                    <a:p>
                      <a:r>
                        <a:rPr lang="en-US"/>
                        <a:t>Combining different parts of the system</a:t>
                      </a:r>
                    </a:p>
                  </a:txBody>
                  <a:tcPr anchor="ctr">
                    <a:lnL>
                      <a:noFill/>
                    </a:lnL>
                    <a:lnR>
                      <a:noFill/>
                    </a:lnR>
                    <a:lnT>
                      <a:noFill/>
                    </a:lnT>
                    <a:lnB>
                      <a:noFill/>
                    </a:lnB>
                  </a:tcPr>
                </a:tc>
                <a:extLst>
                  <a:ext uri="{0D108BD9-81ED-4DB2-BD59-A6C34878D82A}">
                    <a16:rowId xmlns:a16="http://schemas.microsoft.com/office/drawing/2014/main" val="10005"/>
                  </a:ext>
                </a:extLst>
              </a:tr>
              <a:tr h="0">
                <a:tc>
                  <a:txBody>
                    <a:bodyPr/>
                    <a:lstStyle/>
                    <a:p>
                      <a:r>
                        <a:rPr lang="en-US" b="1" dirty="0"/>
                        <a:t>Product Testing</a:t>
                      </a:r>
                    </a:p>
                  </a:txBody>
                  <a:tcPr anchor="ctr">
                    <a:lnL>
                      <a:noFill/>
                    </a:lnL>
                    <a:lnR>
                      <a:noFill/>
                    </a:lnR>
                    <a:lnT>
                      <a:noFill/>
                    </a:lnT>
                    <a:lnB>
                      <a:noFill/>
                    </a:lnB>
                    <a:solidFill>
                      <a:schemeClr val="accent1">
                        <a:lumMod val="20000"/>
                        <a:lumOff val="80000"/>
                      </a:schemeClr>
                    </a:solidFill>
                  </a:tcPr>
                </a:tc>
                <a:tc>
                  <a:txBody>
                    <a:bodyPr/>
                    <a:lstStyle/>
                    <a:p>
                      <a:r>
                        <a:rPr lang="en-US"/>
                        <a:t>Verifying if the product meets requirements</a:t>
                      </a:r>
                    </a:p>
                  </a:txBody>
                  <a:tcPr anchor="ctr">
                    <a:lnL>
                      <a:noFill/>
                    </a:lnL>
                    <a:lnR>
                      <a:noFill/>
                    </a:lnR>
                    <a:lnT>
                      <a:noFill/>
                    </a:lnT>
                    <a:lnB>
                      <a:noFill/>
                    </a:lnB>
                  </a:tcPr>
                </a:tc>
                <a:extLst>
                  <a:ext uri="{0D108BD9-81ED-4DB2-BD59-A6C34878D82A}">
                    <a16:rowId xmlns:a16="http://schemas.microsoft.com/office/drawing/2014/main" val="10006"/>
                  </a:ext>
                </a:extLst>
              </a:tr>
              <a:tr h="507356">
                <a:tc>
                  <a:txBody>
                    <a:bodyPr/>
                    <a:lstStyle/>
                    <a:p>
                      <a:r>
                        <a:rPr lang="en-US" b="1" dirty="0"/>
                        <a:t>Acceptance Testing</a:t>
                      </a:r>
                    </a:p>
                  </a:txBody>
                  <a:tcPr anchor="ctr">
                    <a:lnL>
                      <a:noFill/>
                    </a:lnL>
                    <a:lnR>
                      <a:noFill/>
                    </a:lnR>
                    <a:lnT>
                      <a:noFill/>
                    </a:lnT>
                    <a:lnB>
                      <a:noFill/>
                    </a:lnB>
                    <a:solidFill>
                      <a:schemeClr val="accent1">
                        <a:lumMod val="20000"/>
                        <a:lumOff val="80000"/>
                      </a:schemeClr>
                    </a:solidFill>
                  </a:tcPr>
                </a:tc>
                <a:tc>
                  <a:txBody>
                    <a:bodyPr/>
                    <a:lstStyle/>
                    <a:p>
                      <a:r>
                        <a:rPr lang="en-US" dirty="0"/>
                        <a:t>Final validation with the client/user</a:t>
                      </a:r>
                    </a:p>
                  </a:txBody>
                  <a:tcPr anchor="ctr">
                    <a:lnL>
                      <a:noFill/>
                    </a:lnL>
                    <a:lnR>
                      <a:noFill/>
                    </a:lnR>
                    <a:lnT>
                      <a:noFill/>
                    </a:lnT>
                    <a:lnB>
                      <a:noFill/>
                    </a:lnB>
                  </a:tcPr>
                </a:tc>
                <a:extLst>
                  <a:ext uri="{0D108BD9-81ED-4DB2-BD59-A6C34878D82A}">
                    <a16:rowId xmlns:a16="http://schemas.microsoft.com/office/drawing/2014/main" val="10007"/>
                  </a:ext>
                </a:extLst>
              </a:tr>
            </a:tbl>
          </a:graphicData>
        </a:graphic>
      </p:graphicFrame>
      <p:sp>
        <p:nvSpPr>
          <p:cNvPr id="16" name="Rectangle 10"/>
          <p:cNvSpPr>
            <a:spLocks noChangeArrowheads="1"/>
          </p:cNvSpPr>
          <p:nvPr/>
        </p:nvSpPr>
        <p:spPr bwMode="auto">
          <a:xfrm>
            <a:off x="0" y="2771551"/>
            <a:ext cx="4221027" cy="338554"/>
          </a:xfrm>
          <a:prstGeom prst="rect">
            <a:avLst/>
          </a:prstGeom>
          <a:solidFill>
            <a:schemeClr val="bg1">
              <a:lumMod val="85000"/>
            </a:schemeClr>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349E">
                    <a:lumMod val="75000"/>
                  </a:srgbClr>
                </a:solidFill>
                <a:effectLst/>
                <a:uLnTx/>
                <a:uFillTx/>
                <a:latin typeface="Arial" charset="0"/>
                <a:ea typeface="+mn-ea"/>
                <a:cs typeface="Arial" charset="0"/>
              </a:rPr>
              <a:t>Stages in Software Development Process</a:t>
            </a:r>
            <a:endParaRPr kumimoji="0" lang="en-US" sz="2400" b="0" i="0" u="none" strike="noStrike" kern="1200" cap="none" spc="0" normalizeH="0" baseline="0" noProof="0" dirty="0">
              <a:ln>
                <a:noFill/>
              </a:ln>
              <a:solidFill>
                <a:srgbClr val="00349E">
                  <a:lumMod val="75000"/>
                </a:srgbClr>
              </a:solidFill>
              <a:effectLst/>
              <a:uLnTx/>
              <a:uFillTx/>
              <a:latin typeface="Arial" charset="0"/>
              <a:ea typeface="+mn-ea"/>
              <a:cs typeface="Arial" charset="0"/>
            </a:endParaRPr>
          </a:p>
        </p:txBody>
      </p:sp>
    </p:spTree>
    <p:extLst>
      <p:ext uri="{BB962C8B-B14F-4D97-AF65-F5344CB8AC3E}">
        <p14:creationId xmlns:p14="http://schemas.microsoft.com/office/powerpoint/2010/main" val="40606969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1889" y="157655"/>
            <a:ext cx="11918732" cy="523220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68007F">
                    <a:lumMod val="50000"/>
                  </a:srgbClr>
                </a:solidFill>
                <a:effectLst/>
                <a:uLnTx/>
                <a:uFillTx/>
                <a:latin typeface="Calibri"/>
                <a:ea typeface="+mn-ea"/>
                <a:cs typeface="+mn-cs"/>
              </a:rPr>
              <a:t>Underlying Process Activities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Process Definition</a:t>
            </a:r>
            <a:r>
              <a:rPr kumimoji="0" lang="en-US" sz="2000" b="0" i="0" u="none" strike="noStrike" kern="1200" cap="none" spc="0" normalizeH="0" baseline="0" noProof="0" dirty="0">
                <a:ln>
                  <a:noFill/>
                </a:ln>
                <a:solidFill>
                  <a:prstClr val="black"/>
                </a:solidFill>
                <a:effectLst/>
                <a:uLnTx/>
                <a:uFillTx/>
                <a:latin typeface="Calibri"/>
                <a:ea typeface="+mn-ea"/>
                <a:cs typeface="+mn-cs"/>
              </a:rPr>
              <a:t> – Identifying and documenting what the software process should achieve.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Process Design</a:t>
            </a:r>
            <a:r>
              <a:rPr kumimoji="0" lang="en-US" sz="2000" b="0" i="0" u="none" strike="noStrike" kern="1200" cap="none" spc="0" normalizeH="0" baseline="0" noProof="0" dirty="0">
                <a:ln>
                  <a:noFill/>
                </a:ln>
                <a:solidFill>
                  <a:prstClr val="black"/>
                </a:solidFill>
                <a:effectLst/>
                <a:uLnTx/>
                <a:uFillTx/>
                <a:latin typeface="Calibri"/>
                <a:ea typeface="+mn-ea"/>
                <a:cs typeface="+mn-cs"/>
              </a:rPr>
              <a:t> – Structuring how the defined process will be executed.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Process Implementation</a:t>
            </a:r>
            <a:r>
              <a:rPr kumimoji="0" lang="en-US" sz="2000" b="0" i="0" u="none" strike="noStrike" kern="1200" cap="none" spc="0" normalizeH="0" baseline="0" noProof="0" dirty="0">
                <a:ln>
                  <a:noFill/>
                </a:ln>
                <a:solidFill>
                  <a:prstClr val="black"/>
                </a:solidFill>
                <a:effectLst/>
                <a:uLnTx/>
                <a:uFillTx/>
                <a:latin typeface="Calibri"/>
                <a:ea typeface="+mn-ea"/>
                <a:cs typeface="+mn-cs"/>
              </a:rPr>
              <a:t> – Carrying out the process using tools and resources.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Qualification</a:t>
            </a:r>
            <a:r>
              <a:rPr kumimoji="0" lang="en-US" sz="2000" b="0" i="0" u="none" strike="noStrike" kern="1200" cap="none" spc="0" normalizeH="0" baseline="0" noProof="0" dirty="0">
                <a:ln>
                  <a:noFill/>
                </a:ln>
                <a:solidFill>
                  <a:prstClr val="black"/>
                </a:solidFill>
                <a:effectLst/>
                <a:uLnTx/>
                <a:uFillTx/>
                <a:latin typeface="Calibri"/>
                <a:ea typeface="+mn-ea"/>
                <a:cs typeface="+mn-cs"/>
              </a:rPr>
              <a:t> – Verifying that the process and product meet all requirements.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9C007F">
                    <a:lumMod val="50000"/>
                  </a:srgbClr>
                </a:solidFill>
                <a:effectLst/>
                <a:uLnTx/>
                <a:uFillTx/>
                <a:latin typeface="Calibri"/>
                <a:ea typeface="+mn-ea"/>
                <a:cs typeface="+mn-cs"/>
              </a:rPr>
              <a:t>Advantages of Software Development Framework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srgbClr val="9C007F">
                  <a:lumMod val="50000"/>
                </a:srgbClr>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Faster Development</a:t>
            </a:r>
            <a:r>
              <a:rPr kumimoji="0" lang="en-US" sz="2000" b="0" i="0" u="none" strike="noStrike" kern="1200" cap="none" spc="0" normalizeH="0" baseline="0" noProof="0" dirty="0">
                <a:ln>
                  <a:noFill/>
                </a:ln>
                <a:solidFill>
                  <a:prstClr val="black"/>
                </a:solidFill>
                <a:effectLst/>
                <a:uLnTx/>
                <a:uFillTx/>
                <a:latin typeface="Calibri"/>
                <a:ea typeface="+mn-ea"/>
                <a:cs typeface="+mn-cs"/>
              </a:rPr>
              <a:t> – Provides pre-built modules to speed up coding.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Code Maintainability</a:t>
            </a:r>
            <a:r>
              <a:rPr kumimoji="0" lang="en-US" sz="2000" b="0" i="0" u="none" strike="noStrike" kern="1200" cap="none" spc="0" normalizeH="0" baseline="0" noProof="0" dirty="0">
                <a:ln>
                  <a:noFill/>
                </a:ln>
                <a:solidFill>
                  <a:prstClr val="black"/>
                </a:solidFill>
                <a:effectLst/>
                <a:uLnTx/>
                <a:uFillTx/>
                <a:latin typeface="Calibri"/>
                <a:ea typeface="+mn-ea"/>
                <a:cs typeface="+mn-cs"/>
              </a:rPr>
              <a:t> – Code is easier to manage and update.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Better Security</a:t>
            </a:r>
            <a:r>
              <a:rPr kumimoji="0" lang="en-US" sz="2000" b="0" i="0" u="none" strike="noStrike" kern="1200" cap="none" spc="0" normalizeH="0" baseline="0" noProof="0" dirty="0">
                <a:ln>
                  <a:noFill/>
                </a:ln>
                <a:solidFill>
                  <a:prstClr val="black"/>
                </a:solidFill>
                <a:effectLst/>
                <a:uLnTx/>
                <a:uFillTx/>
                <a:latin typeface="Calibri"/>
                <a:ea typeface="+mn-ea"/>
                <a:cs typeface="+mn-cs"/>
              </a:rPr>
              <a:t> – Many frameworks include built-in security mechanisms.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Cross-Platform Support</a:t>
            </a:r>
            <a:r>
              <a:rPr kumimoji="0" lang="en-US" sz="2000" b="0" i="0" u="none" strike="noStrike" kern="1200" cap="none" spc="0" normalizeH="0" baseline="0" noProof="0" dirty="0">
                <a:ln>
                  <a:noFill/>
                </a:ln>
                <a:solidFill>
                  <a:prstClr val="black"/>
                </a:solidFill>
                <a:effectLst/>
                <a:uLnTx/>
                <a:uFillTx/>
                <a:latin typeface="Calibri"/>
                <a:ea typeface="+mn-ea"/>
                <a:cs typeface="+mn-cs"/>
              </a:rPr>
              <a:t> – Supports development for different OS/devices.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Scalability</a:t>
            </a:r>
            <a:r>
              <a:rPr kumimoji="0" lang="en-US" sz="2000" b="0" i="0" u="none" strike="noStrike" kern="1200" cap="none" spc="0" normalizeH="0" baseline="0" noProof="0" dirty="0">
                <a:ln>
                  <a:noFill/>
                </a:ln>
                <a:solidFill>
                  <a:prstClr val="black"/>
                </a:solidFill>
                <a:effectLst/>
                <a:uLnTx/>
                <a:uFillTx/>
                <a:latin typeface="Calibri"/>
                <a:ea typeface="+mn-ea"/>
                <a:cs typeface="+mn-cs"/>
              </a:rPr>
              <a:t> – Handles large-scale software applications efficiently.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78397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6811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2623</Words>
  <Application>Microsoft Office PowerPoint</Application>
  <PresentationFormat>Widescreen</PresentationFormat>
  <Paragraphs>250</Paragraphs>
  <Slides>20</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20</vt:i4>
      </vt:variant>
    </vt:vector>
  </HeadingPairs>
  <TitlesOfParts>
    <vt:vector size="26" baseType="lpstr">
      <vt:lpstr>Arial</vt:lpstr>
      <vt:lpstr>Calibri</vt:lpstr>
      <vt:lpstr>Calibri Light</vt:lpstr>
      <vt:lpstr>Wingdings</vt:lpstr>
      <vt:lpstr>Office Theme</vt:lpstr>
      <vt:lpstr>1_Office Theme</vt:lpstr>
      <vt:lpstr>Software Development Process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satwik patil</dc:creator>
  <cp:lastModifiedBy>satwik patil</cp:lastModifiedBy>
  <cp:revision>1</cp:revision>
  <dcterms:created xsi:type="dcterms:W3CDTF">2026-08-23T10:18:55Z</dcterms:created>
  <dcterms:modified xsi:type="dcterms:W3CDTF">2026-08-23T10:34:12Z</dcterms:modified>
</cp:coreProperties>
</file>