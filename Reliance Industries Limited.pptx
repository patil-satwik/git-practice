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7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2" d="100"/>
          <a:sy n="82" d="100"/>
        </p:scale>
        <p:origin x="8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249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216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230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7895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816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2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468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968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765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12298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965860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4990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1318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848432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428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071829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9472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469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5615842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616002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1483450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545205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3927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27470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07446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354846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964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6FECA800-FD9B-4AF1-98BF-AA02D65ABA8A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A98D8C7-021E-421B-9D7D-05693EDDFC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6483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68" r:id="rId1"/>
    <p:sldLayoutId id="2147483869" r:id="rId2"/>
    <p:sldLayoutId id="2147483870" r:id="rId3"/>
    <p:sldLayoutId id="2147483871" r:id="rId4"/>
    <p:sldLayoutId id="2147483872" r:id="rId5"/>
    <p:sldLayoutId id="2147483873" r:id="rId6"/>
    <p:sldLayoutId id="2147483874" r:id="rId7"/>
    <p:sldLayoutId id="2147483875" r:id="rId8"/>
    <p:sldLayoutId id="2147483876" r:id="rId9"/>
    <p:sldLayoutId id="2147483877" r:id="rId10"/>
    <p:sldLayoutId id="2147483878" r:id="rId11"/>
    <p:sldLayoutId id="2147483879" r:id="rId12"/>
    <p:sldLayoutId id="2147483880" r:id="rId13"/>
    <p:sldLayoutId id="2147483881" r:id="rId14"/>
    <p:sldLayoutId id="2147483882" r:id="rId15"/>
    <p:sldLayoutId id="2147483883" r:id="rId16"/>
    <p:sldLayoutId id="2147483884" r:id="rId17"/>
    <p:sldLayoutId id="2147483885" r:id="rId18"/>
    <p:sldLayoutId id="2147483886" r:id="rId19"/>
    <p:sldLayoutId id="2147483887" r:id="rId20"/>
    <p:sldLayoutId id="2147483888" r:id="rId21"/>
    <p:sldLayoutId id="2147483889" r:id="rId22"/>
    <p:sldLayoutId id="2147483890" r:id="rId23"/>
    <p:sldLayoutId id="2147483891" r:id="rId24"/>
    <p:sldLayoutId id="2147483892" r:id="rId25"/>
    <p:sldLayoutId id="2147483893" r:id="rId26"/>
    <p:sldLayoutId id="2147483894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tannica.com/topic/textile" TargetMode="External"/><Relationship Id="rId2" Type="http://schemas.openxmlformats.org/officeDocument/2006/relationships/hyperlink" Target="https://www.britannica.com/science/petrochemica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ritannica.com/money/Dhirubhai-Ambani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Initial_public_offering" TargetMode="External"/><Relationship Id="rId3" Type="http://schemas.openxmlformats.org/officeDocument/2006/relationships/hyperlink" Target="https://en.wikipedia.org/wiki/Polyester" TargetMode="External"/><Relationship Id="rId7" Type="http://schemas.openxmlformats.org/officeDocument/2006/relationships/hyperlink" Target="https://en.wikipedia.org/wiki/Gujarat" TargetMode="External"/><Relationship Id="rId2" Type="http://schemas.openxmlformats.org/officeDocument/2006/relationships/hyperlink" Target="https://en.wikipedia.org/wiki/Dhirubhai_Ambani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Naroda" TargetMode="External"/><Relationship Id="rId11" Type="http://schemas.openxmlformats.org/officeDocument/2006/relationships/hyperlink" Target="https://en.wikipedia.org/wiki/E._I._du_Pont_de_Nemours_&amp;_Co." TargetMode="External"/><Relationship Id="rId5" Type="http://schemas.openxmlformats.org/officeDocument/2006/relationships/hyperlink" Target="https://en.wikipedia.org/wiki/Synthetic_fabrics" TargetMode="External"/><Relationship Id="rId10" Type="http://schemas.openxmlformats.org/officeDocument/2006/relationships/hyperlink" Target="https://en.wikipedia.org/wiki/Raigad_district" TargetMode="External"/><Relationship Id="rId4" Type="http://schemas.openxmlformats.org/officeDocument/2006/relationships/hyperlink" Target="https://en.wikipedia.org/wiki/Maharashtra" TargetMode="External"/><Relationship Id="rId9" Type="http://schemas.openxmlformats.org/officeDocument/2006/relationships/hyperlink" Target="https://en.wikipedia.org/wiki/Reliance_Industries#cite_note-19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Reliance Industries Limited Founder Chairman - Dhirubhai Ambani">
            <a:extLst>
              <a:ext uri="{FF2B5EF4-FFF2-40B4-BE49-F238E27FC236}">
                <a16:creationId xmlns:a16="http://schemas.microsoft.com/office/drawing/2014/main" id="{1008DABA-1D2B-E202-80C7-89BEC413C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982" y="575163"/>
            <a:ext cx="4286250" cy="55435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8FBE0E-0BC2-D9A8-27E3-F5B4F8A2C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585" y="575163"/>
            <a:ext cx="6928338" cy="812433"/>
          </a:xfrm>
        </p:spPr>
        <p:txBody>
          <a:bodyPr>
            <a:normAutofit/>
          </a:bodyPr>
          <a:lstStyle/>
          <a:p>
            <a:r>
              <a:rPr lang="en-IN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Dhirajlal</a:t>
            </a:r>
            <a:r>
              <a:rPr lang="en-I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Hirachand</a:t>
            </a:r>
            <a:r>
              <a:rPr lang="en-I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Ambani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3B714-912E-2765-8904-DA7C678AB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2370" y="1515330"/>
            <a:ext cx="5955323" cy="1655762"/>
          </a:xfrm>
        </p:spPr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Founder of Reliance Industry</a:t>
            </a:r>
          </a:p>
          <a:p>
            <a:pPr marL="342900" indent="-342900">
              <a:buFontTx/>
              <a:buChar char="-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Born in dec 1932</a:t>
            </a:r>
          </a:p>
          <a:p>
            <a:pPr marL="342900" indent="-342900">
              <a:buFontTx/>
              <a:buChar char="-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Died on July 2002 (age of 69)</a:t>
            </a:r>
          </a:p>
        </p:txBody>
      </p:sp>
    </p:spTree>
    <p:extLst>
      <p:ext uri="{BB962C8B-B14F-4D97-AF65-F5344CB8AC3E}">
        <p14:creationId xmlns:p14="http://schemas.microsoft.com/office/powerpoint/2010/main" val="3370962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31358-ACAA-AB7C-3989-A8BB8ECF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About Dhirubhai Ambani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E2CA4-D30A-BDAB-A2CB-B8B6D6636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Dhirubhai Ambani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(born December 28, 1932,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Chorwad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Gujarat, India—died July 6, 2002, Mumbai, India) was an Indian industrialist who was the founder of Reliance Industries, a giant 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petrochemicals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communications, power, and 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textiles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conglomerate that was the biggest exporter in India and the first privately owned Indian company in the </a:t>
            </a: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Fortune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500.</a:t>
            </a:r>
          </a:p>
          <a:p>
            <a:r>
              <a:rPr lang="en-IN" sz="2000" dirty="0"/>
              <a:t>India, Dhirubhai Ambani lived and worked in </a:t>
            </a:r>
            <a:r>
              <a:rPr lang="en-IN" sz="2000" b="1" dirty="0"/>
              <a:t>Aden</a:t>
            </a:r>
            <a:r>
              <a:rPr lang="en-IN" sz="2000" dirty="0"/>
              <a:t> (which is now part of Yemen) . He Moved to Aden for better work opportunities in around 1948-49 . He first worked as a gas station attendant at a Shell filling station. Later He worked as a clerk for </a:t>
            </a:r>
            <a:r>
              <a:rPr lang="en-IN" dirty="0">
                <a:hlinkClick r:id="rId4"/>
              </a:rPr>
              <a:t>A. Besse &amp; Co.</a:t>
            </a:r>
            <a:r>
              <a:rPr lang="en-IN" sz="2000" dirty="0"/>
              <a:t>, a large transcontinental trading firm.</a:t>
            </a:r>
          </a:p>
        </p:txBody>
      </p:sp>
    </p:spTree>
    <p:extLst>
      <p:ext uri="{BB962C8B-B14F-4D97-AF65-F5344CB8AC3E}">
        <p14:creationId xmlns:p14="http://schemas.microsoft.com/office/powerpoint/2010/main" val="1770868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BE754-B561-285D-2FCB-20652118A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Early Stage of  Reliance Industry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A2405-B048-C388-E239-0C76C0DE2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1958 - 1980</a:t>
            </a:r>
          </a:p>
          <a:p>
            <a:r>
              <a:rPr lang="en-IN" sz="1600" dirty="0"/>
              <a:t>Reliance Commercial Corporation was set up in 1958 by </a:t>
            </a:r>
            <a:r>
              <a:rPr lang="en-IN" sz="1600" dirty="0">
                <a:hlinkClick r:id="rId2" tooltip="Dhirubhai Ambani"/>
              </a:rPr>
              <a:t>Dhirubhai Ambani</a:t>
            </a:r>
            <a:r>
              <a:rPr lang="en-IN" sz="1600" dirty="0"/>
              <a:t> as a small venture firm trading commodities, especially spices and polyester yarn. In 1965, the partnership ended and Dhirubhai continued the </a:t>
            </a:r>
            <a:r>
              <a:rPr lang="en-IN" sz="1600" dirty="0">
                <a:hlinkClick r:id="rId3" tooltip="Polyester"/>
              </a:rPr>
              <a:t>polyester</a:t>
            </a:r>
            <a:r>
              <a:rPr lang="en-IN" sz="1600" dirty="0"/>
              <a:t> business of the firm. In 1966, Reliance Textiles Industries </a:t>
            </a:r>
            <a:r>
              <a:rPr lang="en-IN" sz="1600" dirty="0" err="1"/>
              <a:t>Pvt.</a:t>
            </a:r>
            <a:r>
              <a:rPr lang="en-IN" sz="1600" dirty="0"/>
              <a:t> Ltd. was incorporated in </a:t>
            </a:r>
            <a:r>
              <a:rPr lang="en-IN" sz="1600" dirty="0">
                <a:hlinkClick r:id="rId4" tooltip="Maharashtra"/>
              </a:rPr>
              <a:t>Maharashtra</a:t>
            </a:r>
            <a:r>
              <a:rPr lang="en-IN" sz="1600" dirty="0"/>
              <a:t>. It established a </a:t>
            </a:r>
            <a:r>
              <a:rPr lang="en-IN" sz="1600" dirty="0">
                <a:hlinkClick r:id="rId5" tooltip="Synthetic fabrics"/>
              </a:rPr>
              <a:t>synthetic fabrics</a:t>
            </a:r>
            <a:r>
              <a:rPr lang="en-IN" sz="1600" dirty="0"/>
              <a:t> mill in the same year at </a:t>
            </a:r>
            <a:r>
              <a:rPr lang="en-IN" sz="1600" dirty="0">
                <a:hlinkClick r:id="rId6" tooltip="Naroda"/>
              </a:rPr>
              <a:t>Naroda</a:t>
            </a:r>
            <a:r>
              <a:rPr lang="en-IN" sz="1600" dirty="0"/>
              <a:t> in </a:t>
            </a:r>
            <a:r>
              <a:rPr lang="en-IN" sz="1600" dirty="0">
                <a:hlinkClick r:id="rId7" tooltip="Gujarat"/>
              </a:rPr>
              <a:t>Gujarat</a:t>
            </a:r>
            <a:r>
              <a:rPr lang="en-IN" sz="1600" dirty="0"/>
              <a:t>. On 8 May 1973, it became Reliance Textiles Industries Limited. In 1975, the company expanded its business into textiles, with "Vimal" becoming its major brand in later years. The company held its </a:t>
            </a:r>
            <a:r>
              <a:rPr lang="en-IN" sz="1600" dirty="0">
                <a:hlinkClick r:id="rId8" tooltip="Initial public offering"/>
              </a:rPr>
              <a:t>initial public offering</a:t>
            </a:r>
            <a:r>
              <a:rPr lang="en-IN" sz="1600" dirty="0"/>
              <a:t> (IPO) in 1977. The issue was over-subscribed by seven times.</a:t>
            </a:r>
            <a:r>
              <a:rPr lang="en-IN" sz="1600" baseline="30000" dirty="0">
                <a:hlinkClick r:id="rId9"/>
              </a:rPr>
              <a:t>[19]</a:t>
            </a:r>
            <a:r>
              <a:rPr lang="en-IN" sz="1600" dirty="0"/>
              <a:t> In 1979, a textiles company </a:t>
            </a:r>
            <a:r>
              <a:rPr lang="en-IN" sz="1600" dirty="0" err="1"/>
              <a:t>Sidhpur</a:t>
            </a:r>
            <a:r>
              <a:rPr lang="en-IN" sz="1600" dirty="0"/>
              <a:t> Mills was amalgamated with the company. In 1980, the company expanded its polyester yarn business by setting up a Polyester Filament Yarn Plant in </a:t>
            </a:r>
            <a:r>
              <a:rPr lang="en-IN" sz="1600" dirty="0" err="1"/>
              <a:t>Patalganga</a:t>
            </a:r>
            <a:r>
              <a:rPr lang="en-IN" sz="1600" dirty="0"/>
              <a:t>, </a:t>
            </a:r>
            <a:r>
              <a:rPr lang="en-IN" sz="1600" dirty="0">
                <a:hlinkClick r:id="rId10" tooltip="Raigad district"/>
              </a:rPr>
              <a:t>Raigad</a:t>
            </a:r>
            <a:r>
              <a:rPr lang="en-IN" sz="1600" dirty="0"/>
              <a:t>, Maharashtra with financial and technical collaboration with </a:t>
            </a:r>
            <a:r>
              <a:rPr lang="en-IN" sz="1600" dirty="0">
                <a:hlinkClick r:id="rId11" tooltip="E. I. du Pont de Nemours &amp; Co."/>
              </a:rPr>
              <a:t>E. I. du Pont de Nemours &amp; Co.</a:t>
            </a:r>
            <a:r>
              <a:rPr lang="en-IN" sz="1600" dirty="0"/>
              <a:t>, U.S.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753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8CAD3-92A7-0029-5E9E-A577D120D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achievements of Reliance Industries Limited (RIL)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0FFC7-A4EA-6905-9720-ED2CCE864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Created an equity-investment culture in India. (1977)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Built the Jamnagar refinery. (2000)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Became a global petrochemicals leader. 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Revolutionised Indian telecom with Jio.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Built a massive digital platform.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Became India’s largest retailer.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Reached global corporate scale.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Crossed major financial milestones 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 Invested heavily in New Energy.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10. Strong contribution to society.</a:t>
            </a:r>
          </a:p>
        </p:txBody>
      </p:sp>
    </p:spTree>
    <p:extLst>
      <p:ext uri="{BB962C8B-B14F-4D97-AF65-F5344CB8AC3E}">
        <p14:creationId xmlns:p14="http://schemas.microsoft.com/office/powerpoint/2010/main" val="2131505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86D63-49CE-67E5-71EB-3E6728C7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Struggles Faced by Reliance Industries Limited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1A09-236B-3642-5C77-3BF079911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initial resources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:- The company started on a relatively small scale and had to compete with established businesses.</a:t>
            </a:r>
          </a:p>
          <a:p>
            <a:pPr marL="342900" indent="-342900"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regulated business environment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:- India’s industrial environment during the early years involved licensing regulations and restrictions.</a:t>
            </a:r>
          </a:p>
          <a:p>
            <a:pPr marL="342900" indent="-342900"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Competition from established companies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:- Reliance entered industries where larger and more experienced companies were already operating.</a:t>
            </a:r>
          </a:p>
          <a:p>
            <a:pPr marL="342900" indent="-342900"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requirements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:- Expansion into manufacturing , petrochemicals , refining and telecommunications required extremely large investments.</a:t>
            </a:r>
          </a:p>
          <a:p>
            <a:pPr marL="342900" indent="-342900"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Technological and operational challenges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:- building large – scale industrial facilities required advanced technology , skilled employees , efficient supply chains and strong management.</a:t>
            </a:r>
          </a:p>
        </p:txBody>
      </p:sp>
    </p:spTree>
    <p:extLst>
      <p:ext uri="{BB962C8B-B14F-4D97-AF65-F5344CB8AC3E}">
        <p14:creationId xmlns:p14="http://schemas.microsoft.com/office/powerpoint/2010/main" val="2519131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18D10-F5DA-64A1-B261-3393B1672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417" y="419100"/>
            <a:ext cx="9942409" cy="876193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Entrepreneurial Traits of Reliance Industries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DCAA9-A528-27FF-50FD-C988B90CA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1664677"/>
            <a:ext cx="9942409" cy="4774223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Visionary leadership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Reliance has consistently focused on long-term goals and large-scale opportunities rather than short-term gains.</a:t>
            </a:r>
          </a:p>
          <a:p>
            <a:pPr marL="342900" indent="-342900">
              <a:buAutoNum type="arabicPeriod"/>
            </a:pPr>
            <a:r>
              <a:rPr lang="en-IN" sz="1600" b="1" dirty="0"/>
              <a:t>Innovation</a:t>
            </a:r>
            <a:r>
              <a:rPr lang="en-IN" sz="1600" dirty="0"/>
              <a:t> – The company has adopted new technologies and entered emerging sectors such as telecommunications, digital services, artificial intelligence and new energy. </a:t>
            </a:r>
          </a:p>
          <a:p>
            <a:pPr marL="342900" indent="-342900">
              <a:buAutoNum type="arabicPeriod"/>
            </a:pPr>
            <a:r>
              <a:rPr lang="en-IN" sz="1600" b="1" dirty="0"/>
              <a:t>Risk-taking ability</a:t>
            </a:r>
            <a:r>
              <a:rPr lang="en-IN" sz="1600" dirty="0"/>
              <a:t> – Reliance has undertaken large investments in industries involving substantial financial, operational and market risks, while maintaining formal risk-management systems.</a:t>
            </a:r>
          </a:p>
          <a:p>
            <a:pPr marL="342900" indent="-342900">
              <a:buAutoNum type="arabicPeriod"/>
            </a:pPr>
            <a:r>
              <a:rPr lang="en-IN" sz="1600" b="1" dirty="0"/>
              <a:t>Diversification</a:t>
            </a:r>
            <a:r>
              <a:rPr lang="en-IN" sz="1600" dirty="0"/>
              <a:t> – It has expanded beyond textiles into petrochemicals, refining, telecom, retail, digital services and new energy, reducing dependence on a single business. </a:t>
            </a:r>
          </a:p>
          <a:p>
            <a:pPr marL="342900" indent="-342900">
              <a:buAutoNum type="arabicPeriod"/>
            </a:pPr>
            <a:r>
              <a:rPr lang="en-IN" sz="1600" b="1" dirty="0"/>
              <a:t>Opportunity recognition</a:t>
            </a:r>
            <a:r>
              <a:rPr lang="en-IN" sz="1600" dirty="0"/>
              <a:t> – Reliance identifies major consumer and economic needs in India and attempts to address them on a very large scale.</a:t>
            </a:r>
          </a:p>
        </p:txBody>
      </p:sp>
    </p:spTree>
    <p:extLst>
      <p:ext uri="{BB962C8B-B14F-4D97-AF65-F5344CB8AC3E}">
        <p14:creationId xmlns:p14="http://schemas.microsoft.com/office/powerpoint/2010/main" val="3778612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3770-C0EB-2100-C2EC-425EC5831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Entrepreneurial Traits of Reliance Industries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FCDEE-77F8-0D8C-D585-36ED558E2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6.</a:t>
            </a:r>
            <a:r>
              <a:rPr lang="en-IN" sz="1600" b="1" dirty="0"/>
              <a:t>	Customer orientation</a:t>
            </a:r>
            <a:r>
              <a:rPr lang="en-IN" sz="1600" dirty="0"/>
              <a:t> – Businesses such as Jio and Reliance Retail focus on providing 	affordable, accessible and technology-driven products and services to a large customer base.</a:t>
            </a:r>
          </a:p>
          <a:p>
            <a:r>
              <a:rPr lang="en-IN" sz="1600" b="1" dirty="0"/>
              <a:t>7. 	Large-scale thinking</a:t>
            </a:r>
            <a:r>
              <a:rPr lang="en-IN" sz="1600" dirty="0"/>
              <a:t> – A major characteristic of Reliance is its ability to build businesses and 	infrastructure at enormous scale, supported by strong project execution capabilities. </a:t>
            </a:r>
          </a:p>
          <a:p>
            <a:r>
              <a:rPr lang="en-IN" sz="1600" b="1" dirty="0"/>
              <a:t>8.	Adaptability</a:t>
            </a:r>
            <a:r>
              <a:rPr lang="en-IN" sz="1600" dirty="0"/>
              <a:t> – Reliance has repeatedly reinvented its business strategy as markets and 	technologies have 	changed.</a:t>
            </a:r>
          </a:p>
          <a:p>
            <a:r>
              <a:rPr lang="en-IN" sz="1600" b="1" dirty="0"/>
              <a:t>9.	Long-term investment</a:t>
            </a:r>
            <a:r>
              <a:rPr lang="en-IN" sz="1600" dirty="0"/>
              <a:t> – The company is willing to make substantial investments today for 	future growth, including investments in new energy and advanced technologies.</a:t>
            </a:r>
          </a:p>
          <a:p>
            <a:r>
              <a:rPr lang="en-IN" sz="1600" b="1" dirty="0"/>
              <a:t>10.	Entrepreneurial culture</a:t>
            </a:r>
            <a:r>
              <a:rPr lang="en-IN" sz="1600" dirty="0"/>
              <a:t> – Reliance encourages employees to identify opportunities and take 	initiatives while using structured risk-management and governance systems. 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9941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5D3CF-7A71-A1C0-184B-57C68DBD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769FC-BCC2-3DA2-65B0-2D317CD21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Case Study of Reliance Industries demonstrates that entrepreneurial success is not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achived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through a good business idea. It requires vision , courage , strategies , planning , innovation , adaptability , and continuous investment . Dhirubhai Ambani Transformed a small trading venture into the foundation of one of India’s largest business enterprises. His ability to think big , take calculated risks , raise capital and integrate different stages of production played a crucial role in Reliance’s early growth.</a:t>
            </a:r>
          </a:p>
        </p:txBody>
      </p:sp>
    </p:spTree>
    <p:extLst>
      <p:ext uri="{BB962C8B-B14F-4D97-AF65-F5344CB8AC3E}">
        <p14:creationId xmlns:p14="http://schemas.microsoft.com/office/powerpoint/2010/main" val="22431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B53BD-1211-541F-ABC8-A0935976A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27" y="1289304"/>
            <a:ext cx="11182945" cy="5843016"/>
          </a:xfrm>
        </p:spPr>
        <p:txBody>
          <a:bodyPr>
            <a:normAutofit/>
          </a:bodyPr>
          <a:lstStyle/>
          <a:p>
            <a:pPr algn="ctr"/>
            <a:br>
              <a:rPr lang="en-IN" sz="8000" dirty="0"/>
            </a:b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427948273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240</TotalTime>
  <Words>913</Words>
  <Application>Microsoft Office PowerPoint</Application>
  <PresentationFormat>Widescreen</PresentationFormat>
  <Paragraphs>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Neue Haas Grotesk Text Pro</vt:lpstr>
      <vt:lpstr>Times New Roman</vt:lpstr>
      <vt:lpstr>Film Burn</vt:lpstr>
      <vt:lpstr>Dhirajlal Hirachand Ambani</vt:lpstr>
      <vt:lpstr>1. About Dhirubhai Ambani</vt:lpstr>
      <vt:lpstr>2. Early Stage of  Reliance Industry</vt:lpstr>
      <vt:lpstr>3. key achievements of Reliance Industries Limited (RIL)</vt:lpstr>
      <vt:lpstr>4. Struggles Faced by Reliance Industries Limited</vt:lpstr>
      <vt:lpstr>5. Entrepreneurial Traits of Reliance Industries </vt:lpstr>
      <vt:lpstr>5. Entrepreneurial Traits of Reliance Industries </vt:lpstr>
      <vt:lpstr>5. Conclusion</vt:lpstr>
      <vt:lpstr>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5</cp:revision>
  <dcterms:created xsi:type="dcterms:W3CDTF">2026-08-25T05:11:11Z</dcterms:created>
  <dcterms:modified xsi:type="dcterms:W3CDTF">2026-09-01T05:40:02Z</dcterms:modified>
</cp:coreProperties>
</file>